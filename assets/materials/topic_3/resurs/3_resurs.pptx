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47" r:id="rId1"/>
    <p:sldMasterId id="2147484349"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2F66-727D-4150-ADA5-49CF3A0F6873}"/>
              </a:ext>
            </a:extLst>
          </p:cNvPr>
          <p:cNvSpPr>
            <a:spLocks noGrp="1"/>
          </p:cNvSpPr>
          <p:nvPr>
            <p:ph type="ctrTitle"/>
          </p:nvPr>
        </p:nvSpPr>
        <p:spPr>
          <a:xfrm>
            <a:off x="838200" y="1122363"/>
            <a:ext cx="9829800" cy="2387600"/>
          </a:xfrm>
        </p:spPr>
        <p:txBody>
          <a:bodyPr anchor="b">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DD9A1FE-C39F-4D7C-B93D-F8C203A1D69C}"/>
              </a:ext>
            </a:extLst>
          </p:cNvPr>
          <p:cNvSpPr>
            <a:spLocks noGrp="1"/>
          </p:cNvSpPr>
          <p:nvPr>
            <p:ph type="subTitle" idx="1"/>
          </p:nvPr>
        </p:nvSpPr>
        <p:spPr>
          <a:xfrm>
            <a:off x="838200" y="3602038"/>
            <a:ext cx="9829800" cy="1655762"/>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C008AAC-7D41-4304-8D59-EF34B232682C}"/>
              </a:ext>
            </a:extLst>
          </p:cNvPr>
          <p:cNvSpPr>
            <a:spLocks noGrp="1"/>
          </p:cNvSpPr>
          <p:nvPr>
            <p:ph type="dt" sz="half" idx="10"/>
          </p:nvPr>
        </p:nvSpPr>
        <p:spPr>
          <a:xfrm>
            <a:off x="838200" y="136525"/>
            <a:ext cx="2743200" cy="365125"/>
          </a:xfrm>
        </p:spPr>
        <p:txBody>
          <a:bodyPr/>
          <a:lstStyle>
            <a:lvl1pPr algn="l">
              <a:defRPr/>
            </a:lvl1pPr>
          </a:lstStyle>
          <a:p>
            <a:fld id="{9549D6DC-E1CB-4874-BF52-C3407230D20E}" type="datetime1">
              <a:rPr lang="en-US" smtClean="0"/>
              <a:t>12/1/2025</a:t>
            </a:fld>
            <a:endParaRPr lang="en-US"/>
          </a:p>
        </p:txBody>
      </p:sp>
      <p:sp>
        <p:nvSpPr>
          <p:cNvPr id="5" name="Footer Placeholder 4">
            <a:extLst>
              <a:ext uri="{FF2B5EF4-FFF2-40B4-BE49-F238E27FC236}">
                <a16:creationId xmlns:a16="http://schemas.microsoft.com/office/drawing/2014/main" id="{4724D078-DE22-4F23-8B48-21FB1415C3E3}"/>
              </a:ext>
            </a:extLst>
          </p:cNvPr>
          <p:cNvSpPr>
            <a:spLocks noGrp="1"/>
          </p:cNvSpPr>
          <p:nvPr>
            <p:ph type="ftr" sz="quarter" idx="11"/>
          </p:nvPr>
        </p:nvSpPr>
        <p:spPr>
          <a:xfrm>
            <a:off x="838200" y="6356350"/>
            <a:ext cx="4114800" cy="365125"/>
          </a:xfrm>
        </p:spPr>
        <p:txBody>
          <a:bodyPr/>
          <a:lstStyle>
            <a:lvl1pPr algn="l">
              <a:defRPr/>
            </a:lvl1pPr>
          </a:lstStyle>
          <a:p>
            <a:endParaRPr lang="en-US"/>
          </a:p>
        </p:txBody>
      </p:sp>
      <p:sp>
        <p:nvSpPr>
          <p:cNvPr id="6" name="Slide Number Placeholder 5">
            <a:extLst>
              <a:ext uri="{FF2B5EF4-FFF2-40B4-BE49-F238E27FC236}">
                <a16:creationId xmlns:a16="http://schemas.microsoft.com/office/drawing/2014/main" id="{BB64C1F5-608B-4335-9F2A-17F63D5FAF0D}"/>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1307120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p:txBody>
          <a:bodyPr/>
          <a:lstStyle/>
          <a:p>
            <a:fld id="{48913E51-B7F7-4C24-B8E3-5471755DC0E0}" type="datetime1">
              <a:rPr lang="en-US" smtClean="0"/>
              <a:t>12/1/2025</a:t>
            </a:fld>
            <a:endParaRPr lang="en-US"/>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91291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831850" y="1709738"/>
            <a:ext cx="10515600" cy="2852737"/>
          </a:xfrm>
        </p:spPr>
        <p:txBody>
          <a:bodyPr anchor="b">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831850" y="4589463"/>
            <a:ext cx="10515600" cy="1500187"/>
          </a:xfrm>
        </p:spPr>
        <p:txBody>
          <a:bodyPr>
            <a:normAutofit/>
          </a:bodyPr>
          <a:lstStyle>
            <a:lvl1pPr marL="0" indent="0">
              <a:buNone/>
              <a:defRPr sz="2000">
                <a:solidFill>
                  <a:schemeClr val="tx2">
                    <a:lumMod val="60000"/>
                    <a:lumOff val="4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DA91A59F-D956-4598-A3C1-AE72A5387751}" type="datetime1">
              <a:rPr lang="en-US" smtClean="0"/>
              <a:t>12/1/2025</a:t>
            </a:fld>
            <a:endParaRPr lang="en-US" dirty="0"/>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2334199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73D3-0F03-4BF4-831F-34E80BAC551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4C09409-59F2-486F-A6D0-FAEE8FFF25B2}"/>
              </a:ext>
            </a:extLst>
          </p:cNvPr>
          <p:cNvSpPr>
            <a:spLocks noGrp="1"/>
          </p:cNvSpPr>
          <p:nvPr>
            <p:ph sz="half" idx="1"/>
          </p:nvPr>
        </p:nvSpPr>
        <p:spPr>
          <a:xfrm>
            <a:off x="838200" y="2195847"/>
            <a:ext cx="5181600" cy="3981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3087241-B390-47A6-8070-C3D4652F887B}"/>
              </a:ext>
            </a:extLst>
          </p:cNvPr>
          <p:cNvSpPr>
            <a:spLocks noGrp="1"/>
          </p:cNvSpPr>
          <p:nvPr>
            <p:ph sz="half" idx="2"/>
          </p:nvPr>
        </p:nvSpPr>
        <p:spPr>
          <a:xfrm>
            <a:off x="6172200" y="2195847"/>
            <a:ext cx="5181600" cy="39811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080B360-2ACA-4B93-9439-591B6D3FBC3F}"/>
              </a:ext>
            </a:extLst>
          </p:cNvPr>
          <p:cNvSpPr>
            <a:spLocks noGrp="1"/>
          </p:cNvSpPr>
          <p:nvPr>
            <p:ph type="dt" sz="half" idx="10"/>
          </p:nvPr>
        </p:nvSpPr>
        <p:spPr/>
        <p:txBody>
          <a:bodyPr/>
          <a:lstStyle/>
          <a:p>
            <a:fld id="{D70BBD69-7BD3-4731-8064-242619E92CBE}" type="datetime1">
              <a:rPr lang="en-US" smtClean="0"/>
              <a:t>12/1/2025</a:t>
            </a:fld>
            <a:endParaRPr lang="en-US"/>
          </a:p>
        </p:txBody>
      </p:sp>
      <p:sp>
        <p:nvSpPr>
          <p:cNvPr id="6" name="Footer Placeholder 5">
            <a:extLst>
              <a:ext uri="{FF2B5EF4-FFF2-40B4-BE49-F238E27FC236}">
                <a16:creationId xmlns:a16="http://schemas.microsoft.com/office/drawing/2014/main" id="{684A73E2-CF78-404C-A86F-E70A284AE9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8F42A-11E1-42A0-8ECF-A5BBA3B8CA56}"/>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2368123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CA31-EE14-41DD-9914-DA7138220460}"/>
              </a:ext>
            </a:extLst>
          </p:cNvPr>
          <p:cNvSpPr>
            <a:spLocks noGrp="1"/>
          </p:cNvSpPr>
          <p:nvPr>
            <p:ph type="title"/>
          </p:nvPr>
        </p:nvSpPr>
        <p:spPr>
          <a:xfrm>
            <a:off x="839788" y="731520"/>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CB22AB6-1657-4AE2-8607-2C77A25D79D9}"/>
              </a:ext>
            </a:extLst>
          </p:cNvPr>
          <p:cNvSpPr>
            <a:spLocks noGrp="1"/>
          </p:cNvSpPr>
          <p:nvPr>
            <p:ph type="body" idx="1"/>
          </p:nvPr>
        </p:nvSpPr>
        <p:spPr>
          <a:xfrm>
            <a:off x="839788" y="2149131"/>
            <a:ext cx="5157787" cy="693696"/>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AA6DC0-D4D5-4164-A3FD-6BB5CBB2BBAD}"/>
              </a:ext>
            </a:extLst>
          </p:cNvPr>
          <p:cNvSpPr>
            <a:spLocks noGrp="1"/>
          </p:cNvSpPr>
          <p:nvPr>
            <p:ph sz="half" idx="2"/>
          </p:nvPr>
        </p:nvSpPr>
        <p:spPr>
          <a:xfrm>
            <a:off x="839788" y="2910625"/>
            <a:ext cx="5157787" cy="310056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29B35F8-95F3-43D1-8917-5836BAA90490}"/>
              </a:ext>
            </a:extLst>
          </p:cNvPr>
          <p:cNvSpPr>
            <a:spLocks noGrp="1"/>
          </p:cNvSpPr>
          <p:nvPr>
            <p:ph type="body" sz="quarter" idx="3"/>
          </p:nvPr>
        </p:nvSpPr>
        <p:spPr>
          <a:xfrm>
            <a:off x="6172200" y="2149131"/>
            <a:ext cx="5183188" cy="693696"/>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B639E7-F4A3-4ADE-B290-0A4F9761B977}"/>
              </a:ext>
            </a:extLst>
          </p:cNvPr>
          <p:cNvSpPr>
            <a:spLocks noGrp="1"/>
          </p:cNvSpPr>
          <p:nvPr>
            <p:ph sz="quarter" idx="4"/>
          </p:nvPr>
        </p:nvSpPr>
        <p:spPr>
          <a:xfrm>
            <a:off x="6172200" y="2910625"/>
            <a:ext cx="5183188" cy="310056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D6F296B-429F-4DFC-ABC3-0A078EA99425}"/>
              </a:ext>
            </a:extLst>
          </p:cNvPr>
          <p:cNvSpPr>
            <a:spLocks noGrp="1"/>
          </p:cNvSpPr>
          <p:nvPr>
            <p:ph type="dt" sz="half" idx="10"/>
          </p:nvPr>
        </p:nvSpPr>
        <p:spPr/>
        <p:txBody>
          <a:bodyPr/>
          <a:lstStyle/>
          <a:p>
            <a:fld id="{38BD77D9-239F-488B-9358-023C46BC7084}" type="datetime1">
              <a:rPr lang="en-US" smtClean="0"/>
              <a:t>12/1/2025</a:t>
            </a:fld>
            <a:endParaRPr lang="en-US"/>
          </a:p>
        </p:txBody>
      </p:sp>
      <p:sp>
        <p:nvSpPr>
          <p:cNvPr id="8" name="Footer Placeholder 7">
            <a:extLst>
              <a:ext uri="{FF2B5EF4-FFF2-40B4-BE49-F238E27FC236}">
                <a16:creationId xmlns:a16="http://schemas.microsoft.com/office/drawing/2014/main" id="{0B7103B9-D521-4910-AC15-F12F25CB95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73A6D9-123D-492C-B5CE-294EF2559FAB}"/>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555899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2A22-4B4D-4F58-9783-A0469DA4D233}"/>
              </a:ext>
            </a:extLst>
          </p:cNvPr>
          <p:cNvSpPr>
            <a:spLocks noGrp="1"/>
          </p:cNvSpPr>
          <p:nvPr>
            <p:ph type="title"/>
          </p:nvPr>
        </p:nvSpPr>
        <p:spPr>
          <a:xfrm>
            <a:off x="838200" y="731520"/>
            <a:ext cx="1051560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3B5EE610-5457-4E8C-B568-B8D560773B5C}"/>
              </a:ext>
            </a:extLst>
          </p:cNvPr>
          <p:cNvSpPr>
            <a:spLocks noGrp="1"/>
          </p:cNvSpPr>
          <p:nvPr>
            <p:ph type="dt" sz="half" idx="10"/>
          </p:nvPr>
        </p:nvSpPr>
        <p:spPr/>
        <p:txBody>
          <a:bodyPr/>
          <a:lstStyle/>
          <a:p>
            <a:fld id="{1EE61C24-7140-4FDE-92F3-654C6E2D3C1C}" type="datetime1">
              <a:rPr lang="en-US" smtClean="0"/>
              <a:t>12/1/2025</a:t>
            </a:fld>
            <a:endParaRPr lang="en-US"/>
          </a:p>
        </p:txBody>
      </p:sp>
      <p:sp>
        <p:nvSpPr>
          <p:cNvPr id="4" name="Footer Placeholder 3">
            <a:extLst>
              <a:ext uri="{FF2B5EF4-FFF2-40B4-BE49-F238E27FC236}">
                <a16:creationId xmlns:a16="http://schemas.microsoft.com/office/drawing/2014/main" id="{A0BA57BB-288A-4A30-A4EC-FF0537BC2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414C89-B968-4A85-A035-E2997A5F8498}"/>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1342378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A339C-4093-4B40-8C90-52F005CA9A0E}"/>
              </a:ext>
            </a:extLst>
          </p:cNvPr>
          <p:cNvSpPr>
            <a:spLocks noGrp="1"/>
          </p:cNvSpPr>
          <p:nvPr>
            <p:ph type="dt" sz="half" idx="10"/>
          </p:nvPr>
        </p:nvSpPr>
        <p:spPr/>
        <p:txBody>
          <a:bodyPr/>
          <a:lstStyle/>
          <a:p>
            <a:fld id="{DC4D6ACF-ECB9-4B5F-A429-08B8AC75E8EF}" type="datetime1">
              <a:rPr lang="en-US" smtClean="0"/>
              <a:t>12/1/2025</a:t>
            </a:fld>
            <a:endParaRPr lang="en-US"/>
          </a:p>
        </p:txBody>
      </p:sp>
      <p:sp>
        <p:nvSpPr>
          <p:cNvPr id="3" name="Footer Placeholder 2">
            <a:extLst>
              <a:ext uri="{FF2B5EF4-FFF2-40B4-BE49-F238E27FC236}">
                <a16:creationId xmlns:a16="http://schemas.microsoft.com/office/drawing/2014/main" id="{DFA33F04-8E0A-4165-930C-527D781A7D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62F57B-BEB6-4973-A362-38F638E0D05C}"/>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515211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AC90-C2CA-44DD-8EF8-20BDD6724247}"/>
              </a:ext>
            </a:extLst>
          </p:cNvPr>
          <p:cNvSpPr>
            <a:spLocks noGrp="1"/>
          </p:cNvSpPr>
          <p:nvPr>
            <p:ph type="title"/>
          </p:nvPr>
        </p:nvSpPr>
        <p:spPr>
          <a:xfrm>
            <a:off x="839788" y="731520"/>
            <a:ext cx="3932237" cy="2346326"/>
          </a:xfrm>
        </p:spPr>
        <p:txBody>
          <a:bodyPr anchor="b">
            <a:noAutofit/>
          </a:bodyPr>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EE915FB-D5F4-4CAD-AE70-3644E81802E6}"/>
              </a:ext>
            </a:extLst>
          </p:cNvPr>
          <p:cNvSpPr>
            <a:spLocks noGrp="1"/>
          </p:cNvSpPr>
          <p:nvPr>
            <p:ph idx="1"/>
          </p:nvPr>
        </p:nvSpPr>
        <p:spPr>
          <a:xfrm>
            <a:off x="5183188" y="731521"/>
            <a:ext cx="6172200" cy="512953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7374DA3-3BAC-4045-825F-B3C27B89736B}"/>
              </a:ext>
            </a:extLst>
          </p:cNvPr>
          <p:cNvSpPr>
            <a:spLocks noGrp="1"/>
          </p:cNvSpPr>
          <p:nvPr>
            <p:ph type="body" sz="half" idx="2"/>
          </p:nvPr>
        </p:nvSpPr>
        <p:spPr>
          <a:xfrm>
            <a:off x="839788" y="3429000"/>
            <a:ext cx="3932237" cy="24399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A0D65-0423-4E45-947A-E08C8569F15F}"/>
              </a:ext>
            </a:extLst>
          </p:cNvPr>
          <p:cNvSpPr>
            <a:spLocks noGrp="1"/>
          </p:cNvSpPr>
          <p:nvPr>
            <p:ph type="dt" sz="half" idx="10"/>
          </p:nvPr>
        </p:nvSpPr>
        <p:spPr/>
        <p:txBody>
          <a:bodyPr/>
          <a:lstStyle/>
          <a:p>
            <a:fld id="{788B429B-EE2A-486A-BDB9-0C848B4FAFDD}" type="datetime1">
              <a:rPr lang="en-US" smtClean="0"/>
              <a:t>12/1/2025</a:t>
            </a:fld>
            <a:endParaRPr lang="en-US"/>
          </a:p>
        </p:txBody>
      </p:sp>
      <p:sp>
        <p:nvSpPr>
          <p:cNvPr id="6" name="Footer Placeholder 5">
            <a:extLst>
              <a:ext uri="{FF2B5EF4-FFF2-40B4-BE49-F238E27FC236}">
                <a16:creationId xmlns:a16="http://schemas.microsoft.com/office/drawing/2014/main" id="{27E6FBD0-E49F-4DE6-9264-CEDB9BAA0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6B246-A768-4B2D-96C6-9F417852636C}"/>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253339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B0C8-915E-4BF2-976E-B8D7EDC591F9}"/>
              </a:ext>
            </a:extLst>
          </p:cNvPr>
          <p:cNvSpPr>
            <a:spLocks noGrp="1"/>
          </p:cNvSpPr>
          <p:nvPr>
            <p:ph type="title"/>
          </p:nvPr>
        </p:nvSpPr>
        <p:spPr>
          <a:xfrm>
            <a:off x="839788" y="731520"/>
            <a:ext cx="3932237" cy="2341564"/>
          </a:xfrm>
        </p:spPr>
        <p:txBody>
          <a:bodyPr anchor="b">
            <a:no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10714E6-8E50-4B50-A2E0-F9D20155EB9B}"/>
              </a:ext>
            </a:extLst>
          </p:cNvPr>
          <p:cNvSpPr>
            <a:spLocks noGrp="1"/>
          </p:cNvSpPr>
          <p:nvPr>
            <p:ph type="pic" idx="1"/>
          </p:nvPr>
        </p:nvSpPr>
        <p:spPr>
          <a:xfrm>
            <a:off x="5183188" y="687257"/>
            <a:ext cx="6172200" cy="517379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0D67A6C-5CA5-4EF0-B1C4-ED85FF255AE3}"/>
              </a:ext>
            </a:extLst>
          </p:cNvPr>
          <p:cNvSpPr>
            <a:spLocks noGrp="1"/>
          </p:cNvSpPr>
          <p:nvPr>
            <p:ph type="body" sz="half" idx="2"/>
          </p:nvPr>
        </p:nvSpPr>
        <p:spPr>
          <a:xfrm>
            <a:off x="839788" y="3429000"/>
            <a:ext cx="3932237" cy="24399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76474-31D4-4567-B4EC-B6AF24488AE7}"/>
              </a:ext>
            </a:extLst>
          </p:cNvPr>
          <p:cNvSpPr>
            <a:spLocks noGrp="1"/>
          </p:cNvSpPr>
          <p:nvPr>
            <p:ph type="dt" sz="half" idx="10"/>
          </p:nvPr>
        </p:nvSpPr>
        <p:spPr/>
        <p:txBody>
          <a:bodyPr/>
          <a:lstStyle/>
          <a:p>
            <a:fld id="{8DA5FE4A-CB8D-40AB-BFFC-AAF37EA071CB}" type="datetime1">
              <a:rPr lang="en-US" smtClean="0"/>
              <a:t>12/1/2025</a:t>
            </a:fld>
            <a:endParaRPr lang="en-US"/>
          </a:p>
        </p:txBody>
      </p:sp>
      <p:sp>
        <p:nvSpPr>
          <p:cNvPr id="6" name="Footer Placeholder 5">
            <a:extLst>
              <a:ext uri="{FF2B5EF4-FFF2-40B4-BE49-F238E27FC236}">
                <a16:creationId xmlns:a16="http://schemas.microsoft.com/office/drawing/2014/main" id="{5C902DE0-33F5-4372-8EB5-F5746D344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C5C2EF-849D-4B2C-8ED6-D26553657DBA}"/>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2651219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F2C5-A3FC-44EF-BA15-CEC83C83D6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5040D3-67DB-455C-AD79-49E185DB6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B2B07A-258E-42DD-9A68-2C76F7D54040}"/>
              </a:ext>
            </a:extLst>
          </p:cNvPr>
          <p:cNvSpPr>
            <a:spLocks noGrp="1"/>
          </p:cNvSpPr>
          <p:nvPr>
            <p:ph type="dt" sz="half" idx="10"/>
          </p:nvPr>
        </p:nvSpPr>
        <p:spPr/>
        <p:txBody>
          <a:bodyPr/>
          <a:lstStyle/>
          <a:p>
            <a:fld id="{F7701D81-C4B9-4A87-89A7-22E29E6C9200}" type="datetime1">
              <a:rPr lang="en-US" smtClean="0"/>
              <a:t>12/1/2025</a:t>
            </a:fld>
            <a:endParaRPr lang="en-US"/>
          </a:p>
        </p:txBody>
      </p:sp>
      <p:sp>
        <p:nvSpPr>
          <p:cNvPr id="5" name="Footer Placeholder 4">
            <a:extLst>
              <a:ext uri="{FF2B5EF4-FFF2-40B4-BE49-F238E27FC236}">
                <a16:creationId xmlns:a16="http://schemas.microsoft.com/office/drawing/2014/main" id="{7C01E9BC-3BB8-40CD-9294-59A2E59E1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3979D-5589-4770-9D29-046F2B506C33}"/>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3462860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693CD-CB65-4F37-A6DA-F300B93C14D9}"/>
              </a:ext>
            </a:extLst>
          </p:cNvPr>
          <p:cNvSpPr>
            <a:spLocks noGrp="1"/>
          </p:cNvSpPr>
          <p:nvPr>
            <p:ph type="title" orient="vert"/>
          </p:nvPr>
        </p:nvSpPr>
        <p:spPr>
          <a:xfrm>
            <a:off x="8724900" y="731520"/>
            <a:ext cx="2628900" cy="537807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48D117-7AE6-4831-9867-5145F64A0C24}"/>
              </a:ext>
            </a:extLst>
          </p:cNvPr>
          <p:cNvSpPr>
            <a:spLocks noGrp="1"/>
          </p:cNvSpPr>
          <p:nvPr>
            <p:ph type="body" orient="vert" idx="1"/>
          </p:nvPr>
        </p:nvSpPr>
        <p:spPr>
          <a:xfrm>
            <a:off x="838200" y="731520"/>
            <a:ext cx="7734300" cy="537807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4988CF8-397F-485E-8081-AFA4DADD440C}"/>
              </a:ext>
            </a:extLst>
          </p:cNvPr>
          <p:cNvSpPr>
            <a:spLocks noGrp="1"/>
          </p:cNvSpPr>
          <p:nvPr>
            <p:ph type="dt" sz="half" idx="10"/>
          </p:nvPr>
        </p:nvSpPr>
        <p:spPr/>
        <p:txBody>
          <a:bodyPr/>
          <a:lstStyle/>
          <a:p>
            <a:fld id="{EE307718-69F7-427E-95A3-C1246AF46913}" type="datetime1">
              <a:rPr lang="en-US" smtClean="0"/>
              <a:t>12/1/2025</a:t>
            </a:fld>
            <a:endParaRPr lang="en-US"/>
          </a:p>
        </p:txBody>
      </p:sp>
      <p:sp>
        <p:nvSpPr>
          <p:cNvPr id="5" name="Footer Placeholder 4">
            <a:extLst>
              <a:ext uri="{FF2B5EF4-FFF2-40B4-BE49-F238E27FC236}">
                <a16:creationId xmlns:a16="http://schemas.microsoft.com/office/drawing/2014/main" id="{83CE4773-4660-4F21-83CF-1A449395B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59537-EB47-40FA-893E-785D6FE00A5C}"/>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814045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69922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32283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159221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05334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171506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047895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37083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779208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01955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976739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101794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12/1/2025</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15523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293296F-4C3A-4530-98F5-F83646ACE913}"/>
              </a:ext>
              <a:ext uri="{C183D7F6-B498-43B3-948B-1728B52AA6E4}">
                <adec:decorative xmlns:adec="http://schemas.microsoft.com/office/drawing/2017/decorative" val="1"/>
              </a:ext>
            </a:extLst>
          </p:cNvPr>
          <p:cNvSpPr/>
          <p:nvPr/>
        </p:nvSpPr>
        <p:spPr>
          <a:xfrm>
            <a:off x="2189" y="0"/>
            <a:ext cx="12192000" cy="6857997"/>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3914D2BD-3C47-433D-81FE-DC6C39595F0E}"/>
              </a:ext>
              <a:ext uri="{C183D7F6-B498-43B3-948B-1728B52AA6E4}">
                <adec:decorative xmlns:adec="http://schemas.microsoft.com/office/drawing/2017/decorative" val="1"/>
              </a:ext>
            </a:extLst>
          </p:cNvPr>
          <p:cNvGrpSpPr/>
          <p:nvPr/>
        </p:nvGrpSpPr>
        <p:grpSpPr>
          <a:xfrm>
            <a:off x="572" y="-1"/>
            <a:ext cx="12192000" cy="6857996"/>
            <a:chOff x="572" y="-1"/>
            <a:chExt cx="12192000" cy="6857996"/>
          </a:xfrm>
        </p:grpSpPr>
        <p:cxnSp>
          <p:nvCxnSpPr>
            <p:cNvPr id="9" name="Straight Connector 8">
              <a:extLst>
                <a:ext uri="{FF2B5EF4-FFF2-40B4-BE49-F238E27FC236}">
                  <a16:creationId xmlns:a16="http://schemas.microsoft.com/office/drawing/2014/main" id="{D3DD55E4-EA4F-4874-8B5B-6E0EAF4BBFC4}"/>
                </a:ext>
              </a:extLst>
            </p:cNvPr>
            <p:cNvCxnSpPr>
              <a:cxnSpLocks/>
            </p:cNvCxnSpPr>
            <p:nvPr/>
          </p:nvCxnSpPr>
          <p:spPr>
            <a:xfrm>
              <a:off x="1667" y="6276706"/>
              <a:ext cx="12189811"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950BAF-7673-4138-AEA2-DE7D368CC357}"/>
                </a:ext>
              </a:extLst>
            </p:cNvPr>
            <p:cNvCxnSpPr>
              <a:cxnSpLocks/>
            </p:cNvCxnSpPr>
            <p:nvPr/>
          </p:nvCxnSpPr>
          <p:spPr>
            <a:xfrm>
              <a:off x="572" y="580876"/>
              <a:ext cx="121920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E3E2B5-EA1C-415A-941A-843C7EA148E1}"/>
                </a:ext>
              </a:extLst>
            </p:cNvPr>
            <p:cNvCxnSpPr>
              <a:cxnSpLocks/>
            </p:cNvCxnSpPr>
            <p:nvPr/>
          </p:nvCxnSpPr>
          <p:spPr>
            <a:xfrm rot="16200000">
              <a:off x="8134324"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7FA3A6-E398-4576-B6B8-3328028D84B2}"/>
                </a:ext>
              </a:extLst>
            </p:cNvPr>
            <p:cNvCxnSpPr>
              <a:cxnSpLocks/>
            </p:cNvCxnSpPr>
            <p:nvPr/>
          </p:nvCxnSpPr>
          <p:spPr>
            <a:xfrm rot="16200000">
              <a:off x="-2794261" y="3428956"/>
              <a:ext cx="6857912"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Graphic 33">
              <a:extLst>
                <a:ext uri="{FF2B5EF4-FFF2-40B4-BE49-F238E27FC236}">
                  <a16:creationId xmlns:a16="http://schemas.microsoft.com/office/drawing/2014/main" id="{EFB597D7-65E0-476A-B9EB-3AA6ED33884C}"/>
                </a:ext>
              </a:extLst>
            </p:cNvPr>
            <p:cNvSpPr/>
            <p:nvPr/>
          </p:nvSpPr>
          <p:spPr>
            <a:xfrm>
              <a:off x="4277016" y="-1"/>
              <a:ext cx="3637968" cy="580875"/>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sp>
          <p:nvSpPr>
            <p:cNvPr id="14" name="Graphic 33">
              <a:extLst>
                <a:ext uri="{FF2B5EF4-FFF2-40B4-BE49-F238E27FC236}">
                  <a16:creationId xmlns:a16="http://schemas.microsoft.com/office/drawing/2014/main" id="{11AA060A-BE0E-4687-8F9E-0E2955D9796D}"/>
                </a:ext>
              </a:extLst>
            </p:cNvPr>
            <p:cNvSpPr/>
            <p:nvPr/>
          </p:nvSpPr>
          <p:spPr>
            <a:xfrm rot="10800000">
              <a:off x="4305089" y="6276705"/>
              <a:ext cx="3581824" cy="581290"/>
            </a:xfrm>
            <a:custGeom>
              <a:avLst/>
              <a:gdLst>
                <a:gd name="connsiteX0" fmla="*/ 0 w 2679858"/>
                <a:gd name="connsiteY0" fmla="*/ 4953 h 434911"/>
                <a:gd name="connsiteX1" fmla="*/ 1336548 w 2679858"/>
                <a:gd name="connsiteY1" fmla="*/ 434912 h 434911"/>
                <a:gd name="connsiteX2" fmla="*/ 2679859 w 2679858"/>
                <a:gd name="connsiteY2" fmla="*/ 0 h 434911"/>
              </a:gdLst>
              <a:ahLst/>
              <a:cxnLst>
                <a:cxn ang="0">
                  <a:pos x="connsiteX0" y="connsiteY0"/>
                </a:cxn>
                <a:cxn ang="0">
                  <a:pos x="connsiteX1" y="connsiteY1"/>
                </a:cxn>
                <a:cxn ang="0">
                  <a:pos x="connsiteX2" y="connsiteY2"/>
                </a:cxn>
              </a:cxnLst>
              <a:rect l="l" t="t" r="r" b="b"/>
              <a:pathLst>
                <a:path w="2679858" h="434911">
                  <a:moveTo>
                    <a:pt x="0" y="4953"/>
                  </a:moveTo>
                  <a:cubicBezTo>
                    <a:pt x="370427" y="274606"/>
                    <a:pt x="833723" y="434912"/>
                    <a:pt x="1336548" y="434912"/>
                  </a:cubicBezTo>
                  <a:cubicBezTo>
                    <a:pt x="1842326" y="434912"/>
                    <a:pt x="2308289" y="272701"/>
                    <a:pt x="2679859" y="0"/>
                  </a:cubicBezTo>
                </a:path>
              </a:pathLst>
            </a:custGeom>
            <a:noFill/>
            <a:ln w="12700" cap="flat">
              <a:solidFill>
                <a:schemeClr val="accent4"/>
              </a:solidFill>
              <a:prstDash val="solid"/>
              <a:miter/>
            </a:ln>
          </p:spPr>
          <p:txBody>
            <a:bodyPr rtlCol="0" anchor="ctr"/>
            <a:lstStyle/>
            <a:p>
              <a:endParaRPr lang="en-US" dirty="0"/>
            </a:p>
          </p:txBody>
        </p:sp>
      </p:grpSp>
      <p:sp>
        <p:nvSpPr>
          <p:cNvPr id="2" name="Title Placeholder 1">
            <a:extLst>
              <a:ext uri="{FF2B5EF4-FFF2-40B4-BE49-F238E27FC236}">
                <a16:creationId xmlns:a16="http://schemas.microsoft.com/office/drawing/2014/main" id="{2D78318D-FE3E-41D7-9A8C-2065A2C46AF3}"/>
              </a:ext>
            </a:extLst>
          </p:cNvPr>
          <p:cNvSpPr>
            <a:spLocks noGrp="1"/>
          </p:cNvSpPr>
          <p:nvPr>
            <p:ph type="title"/>
          </p:nvPr>
        </p:nvSpPr>
        <p:spPr>
          <a:xfrm>
            <a:off x="838200" y="727323"/>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DB06718-79E7-4159-A003-F86FE7B3D829}"/>
              </a:ext>
            </a:extLst>
          </p:cNvPr>
          <p:cNvSpPr>
            <a:spLocks noGrp="1"/>
          </p:cNvSpPr>
          <p:nvPr>
            <p:ph type="body" idx="1"/>
          </p:nvPr>
        </p:nvSpPr>
        <p:spPr>
          <a:xfrm>
            <a:off x="838200" y="2189408"/>
            <a:ext cx="10515600" cy="38217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1F99FF-FFE2-431D-A0C8-A46C21712A20}"/>
              </a:ext>
            </a:extLst>
          </p:cNvPr>
          <p:cNvSpPr>
            <a:spLocks noGrp="1"/>
          </p:cNvSpPr>
          <p:nvPr>
            <p:ph type="dt" sz="half" idx="2"/>
          </p:nvPr>
        </p:nvSpPr>
        <p:spPr>
          <a:xfrm>
            <a:off x="838200" y="136525"/>
            <a:ext cx="2743200" cy="365125"/>
          </a:xfrm>
          <a:prstGeom prst="rect">
            <a:avLst/>
          </a:prstGeom>
        </p:spPr>
        <p:txBody>
          <a:bodyPr vert="horz" lIns="91440" tIns="45720" rIns="91440" bIns="45720" rtlCol="0" anchor="ctr"/>
          <a:lstStyle>
            <a:lvl1pPr algn="l">
              <a:defRPr sz="800" cap="all" spc="150" baseline="0">
                <a:solidFill>
                  <a:schemeClr val="tx2">
                    <a:lumMod val="60000"/>
                    <a:lumOff val="40000"/>
                  </a:schemeClr>
                </a:solidFill>
              </a:defRPr>
            </a:lvl1pPr>
          </a:lstStyle>
          <a:p>
            <a:fld id="{C0517C94-3B1E-4991-BED3-41F8B0158A00}" type="datetime1">
              <a:rPr lang="en-US" smtClean="0"/>
              <a:t>12/1/2025</a:t>
            </a:fld>
            <a:endParaRPr lang="en-US" dirty="0"/>
          </a:p>
        </p:txBody>
      </p:sp>
      <p:sp>
        <p:nvSpPr>
          <p:cNvPr id="5" name="Footer Placeholder 4">
            <a:extLst>
              <a:ext uri="{FF2B5EF4-FFF2-40B4-BE49-F238E27FC236}">
                <a16:creationId xmlns:a16="http://schemas.microsoft.com/office/drawing/2014/main" id="{51C3547E-668D-4191-847C-7424F75496E6}"/>
              </a:ext>
            </a:extLst>
          </p:cNvPr>
          <p:cNvSpPr>
            <a:spLocks noGrp="1"/>
          </p:cNvSpPr>
          <p:nvPr>
            <p:ph type="ftr" sz="quarter" idx="3"/>
          </p:nvPr>
        </p:nvSpPr>
        <p:spPr>
          <a:xfrm>
            <a:off x="838200" y="6356350"/>
            <a:ext cx="3450659" cy="365125"/>
          </a:xfrm>
          <a:prstGeom prst="rect">
            <a:avLst/>
          </a:prstGeom>
        </p:spPr>
        <p:txBody>
          <a:bodyPr vert="horz" lIns="91440" tIns="45720" rIns="91440" bIns="45720" rtlCol="0" anchor="ctr"/>
          <a:lstStyle>
            <a:lvl1pPr algn="l">
              <a:defRPr sz="800" cap="all" spc="150" baseline="0">
                <a:solidFill>
                  <a:schemeClr val="tx2">
                    <a:lumMod val="60000"/>
                    <a:lumOff val="40000"/>
                  </a:schemeClr>
                </a:solidFill>
              </a:defRPr>
            </a:lvl1pPr>
          </a:lstStyle>
          <a:p>
            <a:endParaRPr lang="en-US" dirty="0"/>
          </a:p>
        </p:txBody>
      </p:sp>
      <p:sp>
        <p:nvSpPr>
          <p:cNvPr id="6" name="Slide Number Placeholder 5">
            <a:extLst>
              <a:ext uri="{FF2B5EF4-FFF2-40B4-BE49-F238E27FC236}">
                <a16:creationId xmlns:a16="http://schemas.microsoft.com/office/drawing/2014/main" id="{8CBB6E6E-8527-4F63-A0C7-84CD44A2B00D}"/>
              </a:ext>
            </a:extLst>
          </p:cNvPr>
          <p:cNvSpPr>
            <a:spLocks noGrp="1"/>
          </p:cNvSpPr>
          <p:nvPr>
            <p:ph type="sldNum" sz="quarter" idx="4"/>
          </p:nvPr>
        </p:nvSpPr>
        <p:spPr>
          <a:xfrm>
            <a:off x="11563467" y="3246434"/>
            <a:ext cx="628533" cy="365125"/>
          </a:xfrm>
          <a:prstGeom prst="rect">
            <a:avLst/>
          </a:prstGeom>
        </p:spPr>
        <p:txBody>
          <a:bodyPr vert="horz" lIns="91440" tIns="45720" rIns="91440" bIns="45720" rtlCol="0" anchor="ctr"/>
          <a:lstStyle>
            <a:lvl1pPr algn="ctr">
              <a:defRPr sz="1100" cap="all" spc="150" baseline="0">
                <a:solidFill>
                  <a:schemeClr val="tx2">
                    <a:lumMod val="60000"/>
                    <a:lumOff val="40000"/>
                  </a:schemeClr>
                </a:solidFill>
              </a:defRPr>
            </a:lvl1pPr>
          </a:lstStyle>
          <a:p>
            <a:fld id="{273BAE12-D270-459D-897B-6833652BB167}" type="slidenum">
              <a:rPr lang="en-US" smtClean="0"/>
              <a:pPr/>
              <a:t>‹#›</a:t>
            </a:fld>
            <a:endParaRPr lang="en-US" dirty="0"/>
          </a:p>
        </p:txBody>
      </p:sp>
    </p:spTree>
    <p:extLst>
      <p:ext uri="{BB962C8B-B14F-4D97-AF65-F5344CB8AC3E}">
        <p14:creationId xmlns:p14="http://schemas.microsoft.com/office/powerpoint/2010/main" val="3179950010"/>
      </p:ext>
    </p:extLst>
  </p:cSld>
  <p:clrMap bg1="lt1" tx1="dk1" bg2="lt2" tx2="dk2" accent1="accent1" accent2="accent2" accent3="accent3" accent4="accent4" accent5="accent5" accent6="accent6" hlink="hlink" folHlink="folHlink"/>
  <p:sldLayoutIdLst>
    <p:sldLayoutId id="2147484736" r:id="rId1"/>
    <p:sldLayoutId id="2147484737" r:id="rId2"/>
    <p:sldLayoutId id="2147484738" r:id="rId3"/>
    <p:sldLayoutId id="2147484739" r:id="rId4"/>
    <p:sldLayoutId id="2147484740" r:id="rId5"/>
    <p:sldLayoutId id="2147484741" r:id="rId6"/>
    <p:sldLayoutId id="2147484742" r:id="rId7"/>
    <p:sldLayoutId id="2147484743" r:id="rId8"/>
    <p:sldLayoutId id="2147484744" r:id="rId9"/>
    <p:sldLayoutId id="2147484745" r:id="rId10"/>
    <p:sldLayoutId id="2147484746" r:id="rId11"/>
  </p:sldLayoutIdLst>
  <p:hf sldNum="0" hdr="0" ftr="0" dt="0"/>
  <p:txStyles>
    <p:titleStyle>
      <a:lvl1pPr algn="l" defTabSz="914400" rtl="0" eaLnBrk="1" latinLnBrk="0" hangingPunct="1">
        <a:lnSpc>
          <a:spcPct val="100000"/>
        </a:lnSpc>
        <a:spcBef>
          <a:spcPct val="0"/>
        </a:spcBef>
        <a:buNone/>
        <a:defRPr sz="4400" kern="1200">
          <a:solidFill>
            <a:schemeClr val="tx2">
              <a:lumMod val="60000"/>
              <a:lumOff val="40000"/>
            </a:schemeClr>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2">
              <a:lumMod val="60000"/>
              <a:lumOff val="40000"/>
            </a:schemeClr>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2">
              <a:lumMod val="60000"/>
              <a:lumOff val="40000"/>
            </a:schemeClr>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2">
              <a:lumMod val="60000"/>
              <a:lumOff val="40000"/>
            </a:schemeClr>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2">
              <a:lumMod val="60000"/>
              <a:lumOff val="40000"/>
            </a:schemeClr>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2">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12/1/2025</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4152790758"/>
      </p:ext>
    </p:extLst>
  </p:cSld>
  <p:clrMap bg1="lt1" tx1="dk1" bg2="lt2" tx2="dk2" accent1="accent1" accent2="accent2" accent3="accent3" accent4="accent4" accent5="accent5" accent6="accent6" hlink="hlink" folHlink="folHlink"/>
  <p:sldLayoutIdLst>
    <p:sldLayoutId id="2147484361" r:id="rId1"/>
    <p:sldLayoutId id="2147484360" r:id="rId2"/>
    <p:sldLayoutId id="2147484359" r:id="rId3"/>
    <p:sldLayoutId id="2147484358" r:id="rId4"/>
    <p:sldLayoutId id="2147484357" r:id="rId5"/>
    <p:sldLayoutId id="2147484356" r:id="rId6"/>
    <p:sldLayoutId id="2147484355" r:id="rId7"/>
    <p:sldLayoutId id="2147484354" r:id="rId8"/>
    <p:sldLayoutId id="2147484353" r:id="rId9"/>
    <p:sldLayoutId id="2147484352" r:id="rId10"/>
    <p:sldLayoutId id="2147484350" r:id="rId11"/>
    <p:sldLayoutId id="2147484351"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4684" y="575187"/>
            <a:ext cx="10913806" cy="5633884"/>
          </a:xfr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a:noAutofit/>
          </a:bodyPr>
          <a:lstStyle/>
          <a:p>
            <a:pPr algn="ctr"/>
            <a:r>
              <a:rPr sz="4000" dirty="0">
                <a:solidFill>
                  <a:srgbClr val="002060"/>
                </a:solidFill>
              </a:rPr>
              <a:t>3-mavzu: Respublikada </a:t>
            </a:r>
            <a:r>
              <a:rPr sz="4000" dirty="0" err="1">
                <a:solidFill>
                  <a:srgbClr val="002060"/>
                </a:solidFill>
              </a:rPr>
              <a:t>texnik</a:t>
            </a:r>
            <a:r>
              <a:rPr sz="4000" dirty="0">
                <a:solidFill>
                  <a:srgbClr val="002060"/>
                </a:solidFill>
              </a:rPr>
              <a:t> </a:t>
            </a:r>
            <a:r>
              <a:rPr sz="4000" dirty="0" err="1">
                <a:solidFill>
                  <a:srgbClr val="002060"/>
                </a:solidFill>
              </a:rPr>
              <a:t>ijodkorlikning</a:t>
            </a:r>
            <a:r>
              <a:rPr sz="4000" dirty="0">
                <a:solidFill>
                  <a:srgbClr val="002060"/>
                </a:solidFill>
              </a:rPr>
              <a:t> </a:t>
            </a:r>
            <a:r>
              <a:rPr sz="4000" dirty="0" err="1">
                <a:solidFill>
                  <a:srgbClr val="002060"/>
                </a:solidFill>
              </a:rPr>
              <a:t>tashkiliy</a:t>
            </a:r>
            <a:r>
              <a:rPr sz="4000" dirty="0">
                <a:solidFill>
                  <a:srgbClr val="002060"/>
                </a:solidFill>
              </a:rPr>
              <a:t> </a:t>
            </a:r>
            <a:r>
              <a:rPr sz="4000" dirty="0" err="1">
                <a:solidFill>
                  <a:srgbClr val="002060"/>
                </a:solidFill>
              </a:rPr>
              <a:t>asoslari</a:t>
            </a:r>
            <a:r>
              <a:rPr sz="4000" dirty="0">
                <a:solidFill>
                  <a:srgbClr val="002060"/>
                </a:solidFill>
              </a:rPr>
              <a:t>. </a:t>
            </a:r>
            <a:r>
              <a:rPr sz="4000" dirty="0" err="1">
                <a:solidFill>
                  <a:srgbClr val="002060"/>
                </a:solidFill>
              </a:rPr>
              <a:t>O‘zbekiston</a:t>
            </a:r>
            <a:r>
              <a:rPr sz="4000" dirty="0">
                <a:solidFill>
                  <a:srgbClr val="002060"/>
                </a:solidFill>
              </a:rPr>
              <a:t> </a:t>
            </a:r>
            <a:r>
              <a:rPr sz="4000" dirty="0" err="1">
                <a:solidFill>
                  <a:srgbClr val="002060"/>
                </a:solidFill>
              </a:rPr>
              <a:t>Respublikasining</a:t>
            </a:r>
            <a:r>
              <a:rPr sz="4000" dirty="0">
                <a:solidFill>
                  <a:srgbClr val="002060"/>
                </a:solidFill>
              </a:rPr>
              <a:t> Davlat patent </a:t>
            </a:r>
            <a:r>
              <a:rPr sz="4000" dirty="0" err="1">
                <a:solidFill>
                  <a:srgbClr val="002060"/>
                </a:solidFill>
              </a:rPr>
              <a:t>idorasi</a:t>
            </a:r>
            <a:r>
              <a:rPr sz="4000" dirty="0">
                <a:solidFill>
                  <a:srgbClr val="002060"/>
                </a:solidFill>
              </a:rPr>
              <a:t>. </a:t>
            </a:r>
            <a:r>
              <a:rPr sz="4000" dirty="0" err="1">
                <a:solidFill>
                  <a:srgbClr val="002060"/>
                </a:solidFill>
              </a:rPr>
              <a:t>Sanoat</a:t>
            </a:r>
            <a:r>
              <a:rPr sz="4000" dirty="0">
                <a:solidFill>
                  <a:srgbClr val="002060"/>
                </a:solidFill>
              </a:rPr>
              <a:t> </a:t>
            </a:r>
            <a:r>
              <a:rPr sz="4000" dirty="0" err="1">
                <a:solidFill>
                  <a:srgbClr val="002060"/>
                </a:solidFill>
              </a:rPr>
              <a:t>mulki</a:t>
            </a:r>
            <a:r>
              <a:rPr sz="4000" dirty="0">
                <a:solidFill>
                  <a:srgbClr val="002060"/>
                </a:solidFill>
              </a:rPr>
              <a:t> </a:t>
            </a:r>
            <a:r>
              <a:rPr sz="4000" dirty="0" err="1">
                <a:solidFill>
                  <a:srgbClr val="002060"/>
                </a:solidFill>
              </a:rPr>
              <a:t>ob’yektlarini</a:t>
            </a:r>
            <a:r>
              <a:rPr sz="4000" dirty="0">
                <a:solidFill>
                  <a:srgbClr val="002060"/>
                </a:solidFill>
              </a:rPr>
              <a:t> </a:t>
            </a:r>
            <a:r>
              <a:rPr sz="4000" dirty="0" err="1">
                <a:solidFill>
                  <a:srgbClr val="002060"/>
                </a:solidFill>
              </a:rPr>
              <a:t>huquqiy</a:t>
            </a:r>
            <a:r>
              <a:rPr sz="4000" dirty="0">
                <a:solidFill>
                  <a:srgbClr val="002060"/>
                </a:solidFill>
              </a:rPr>
              <a:t> </a:t>
            </a:r>
            <a:r>
              <a:rPr sz="4000" dirty="0" err="1">
                <a:solidFill>
                  <a:srgbClr val="002060"/>
                </a:solidFill>
              </a:rPr>
              <a:t>jihatdan</a:t>
            </a:r>
            <a:r>
              <a:rPr sz="4000" dirty="0">
                <a:solidFill>
                  <a:srgbClr val="002060"/>
                </a:solidFill>
              </a:rPr>
              <a:t> </a:t>
            </a:r>
            <a:r>
              <a:rPr sz="4000" dirty="0" err="1">
                <a:solidFill>
                  <a:srgbClr val="002060"/>
                </a:solidFill>
              </a:rPr>
              <a:t>muhofaza</a:t>
            </a:r>
            <a:r>
              <a:rPr sz="4000" dirty="0">
                <a:solidFill>
                  <a:srgbClr val="002060"/>
                </a:solidFill>
              </a:rPr>
              <a:t> </a:t>
            </a:r>
            <a:r>
              <a:rPr sz="4000" dirty="0" err="1">
                <a:solidFill>
                  <a:srgbClr val="002060"/>
                </a:solidFill>
              </a:rPr>
              <a:t>qilish</a:t>
            </a:r>
            <a:r>
              <a:rPr sz="4000" dirty="0">
                <a:solidFill>
                  <a:srgbClr val="002060"/>
                </a:solidFill>
              </a:rPr>
              <a:t>. Patent </a:t>
            </a:r>
            <a:r>
              <a:rPr sz="4000" dirty="0" err="1">
                <a:solidFill>
                  <a:srgbClr val="002060"/>
                </a:solidFill>
              </a:rPr>
              <a:t>hujjatlari</a:t>
            </a:r>
            <a:r>
              <a:rPr sz="4000" dirty="0">
                <a:solidFill>
                  <a:srgbClr val="002060"/>
                </a:solidFill>
              </a:rPr>
              <a:t>. Patent </a:t>
            </a:r>
            <a:r>
              <a:rPr sz="4000" dirty="0" err="1">
                <a:solidFill>
                  <a:srgbClr val="002060"/>
                </a:solidFill>
              </a:rPr>
              <a:t>axboroti</a:t>
            </a:r>
            <a:r>
              <a:rPr sz="4000" dirty="0">
                <a:solidFill>
                  <a:srgbClr val="002060"/>
                </a:solidFill>
              </a:rPr>
              <a:t>. </a:t>
            </a:r>
            <a:r>
              <a:rPr sz="4000" dirty="0" err="1">
                <a:solidFill>
                  <a:srgbClr val="002060"/>
                </a:solidFill>
              </a:rPr>
              <a:t>Texnik</a:t>
            </a:r>
            <a:r>
              <a:rPr sz="4000" dirty="0">
                <a:solidFill>
                  <a:srgbClr val="002060"/>
                </a:solidFill>
              </a:rPr>
              <a:t> </a:t>
            </a:r>
            <a:r>
              <a:rPr sz="4000" dirty="0" err="1">
                <a:solidFill>
                  <a:srgbClr val="002060"/>
                </a:solidFill>
              </a:rPr>
              <a:t>ijodkorlikni</a:t>
            </a:r>
            <a:r>
              <a:rPr sz="4000" dirty="0">
                <a:solidFill>
                  <a:srgbClr val="002060"/>
                </a:solidFill>
              </a:rPr>
              <a:t> </a:t>
            </a:r>
            <a:r>
              <a:rPr sz="4000" dirty="0" err="1">
                <a:solidFill>
                  <a:srgbClr val="002060"/>
                </a:solidFill>
              </a:rPr>
              <a:t>rivojlantirish</a:t>
            </a:r>
            <a:r>
              <a:rPr sz="4000" dirty="0">
                <a:solidFill>
                  <a:srgbClr val="002060"/>
                </a:solidFill>
              </a:rPr>
              <a:t> </a:t>
            </a:r>
            <a:r>
              <a:rPr sz="4000" dirty="0" err="1">
                <a:solidFill>
                  <a:srgbClr val="002060"/>
                </a:solidFill>
              </a:rPr>
              <a:t>metodlari</a:t>
            </a:r>
            <a:r>
              <a:rPr sz="4000" dirty="0">
                <a:solidFill>
                  <a:srgbClr val="002060"/>
                </a:solidFill>
              </a:rPr>
              <a:t>. </a:t>
            </a:r>
            <a:r>
              <a:rPr sz="4000" dirty="0" err="1">
                <a:solidFill>
                  <a:srgbClr val="002060"/>
                </a:solidFill>
              </a:rPr>
              <a:t>Texnik</a:t>
            </a:r>
            <a:r>
              <a:rPr sz="4000" dirty="0">
                <a:solidFill>
                  <a:srgbClr val="002060"/>
                </a:solidFill>
              </a:rPr>
              <a:t> </a:t>
            </a:r>
            <a:r>
              <a:rPr sz="4000" dirty="0" err="1">
                <a:solidFill>
                  <a:srgbClr val="002060"/>
                </a:solidFill>
              </a:rPr>
              <a:t>loyihalash</a:t>
            </a:r>
            <a:r>
              <a:rPr sz="4000" dirty="0">
                <a:solidFill>
                  <a:srgbClr val="002060"/>
                </a:solidFill>
              </a:rPr>
              <a:t> </a:t>
            </a:r>
            <a:r>
              <a:rPr sz="4000" dirty="0" err="1">
                <a:solidFill>
                  <a:srgbClr val="002060"/>
                </a:solidFill>
              </a:rPr>
              <a:t>va</a:t>
            </a:r>
            <a:r>
              <a:rPr sz="4000" dirty="0">
                <a:solidFill>
                  <a:srgbClr val="002060"/>
                </a:solidFill>
              </a:rPr>
              <a:t> </a:t>
            </a:r>
            <a:r>
              <a:rPr sz="4000" dirty="0" err="1">
                <a:solidFill>
                  <a:srgbClr val="002060"/>
                </a:solidFill>
              </a:rPr>
              <a:t>modellashtirishning</a:t>
            </a:r>
            <a:r>
              <a:rPr sz="4000" dirty="0">
                <a:solidFill>
                  <a:srgbClr val="002060"/>
                </a:solidFill>
              </a:rPr>
              <a:t> </a:t>
            </a:r>
            <a:r>
              <a:rPr sz="4000" dirty="0" err="1">
                <a:solidFill>
                  <a:srgbClr val="002060"/>
                </a:solidFill>
              </a:rPr>
              <a:t>moddiy</a:t>
            </a:r>
            <a:r>
              <a:rPr sz="4000" dirty="0">
                <a:solidFill>
                  <a:srgbClr val="002060"/>
                </a:solidFill>
              </a:rPr>
              <a:t> </a:t>
            </a:r>
            <a:r>
              <a:rPr sz="4000" dirty="0" err="1">
                <a:solidFill>
                  <a:srgbClr val="002060"/>
                </a:solidFill>
              </a:rPr>
              <a:t>sharoitlari</a:t>
            </a:r>
            <a:endParaRPr sz="4000" dirty="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p:spPr>
        <p:style>
          <a:lnRef idx="0">
            <a:scrgbClr r="0" g="0" b="0"/>
          </a:lnRef>
          <a:fillRef idx="0">
            <a:scrgbClr r="0" g="0" b="0"/>
          </a:fillRef>
          <a:effectRef idx="0">
            <a:scrgbClr r="0" g="0" b="0"/>
          </a:effectRef>
          <a:fontRef idx="minor">
            <a:schemeClr val="accent2"/>
          </a:fontRef>
        </p:style>
        <p:txBody>
          <a:bodyPr>
            <a:normAutofit fontScale="90000"/>
          </a:bodyPr>
          <a:lstStyle/>
          <a:p>
            <a:pPr algn="ctr"/>
            <a:r>
              <a:rPr sz="8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Reja</a:t>
            </a:r>
            <a:endParaRPr sz="8800" dirty="0"/>
          </a:p>
        </p:txBody>
      </p:sp>
      <p:sp>
        <p:nvSpPr>
          <p:cNvPr id="3" name="Content Placeholder 2"/>
          <p:cNvSpPr>
            <a:spLocks noGrp="1"/>
          </p:cNvSpPr>
          <p:nvPr>
            <p:ph idx="1"/>
          </p:nvPr>
        </p:nvSpPr>
        <p:spPr/>
        <p:txBody>
          <a:bodyPr/>
          <a:lstStyle/>
          <a:p>
            <a:pPr marL="0" indent="0">
              <a:buNone/>
            </a:pPr>
            <a:r>
              <a:rPr sz="2000" dirty="0">
                <a:solidFill>
                  <a:srgbClr val="002060"/>
                </a:solidFill>
              </a:rPr>
              <a:t>1.     </a:t>
            </a:r>
            <a:r>
              <a:rPr sz="2000" dirty="0" err="1">
                <a:solidFill>
                  <a:srgbClr val="002060"/>
                </a:solidFill>
              </a:rPr>
              <a:t>O’zbekiston</a:t>
            </a:r>
            <a:r>
              <a:rPr sz="2000" dirty="0">
                <a:solidFill>
                  <a:srgbClr val="002060"/>
                </a:solidFill>
              </a:rPr>
              <a:t> </a:t>
            </a:r>
            <a:r>
              <a:rPr sz="2000" dirty="0" err="1">
                <a:solidFill>
                  <a:srgbClr val="002060"/>
                </a:solidFill>
              </a:rPr>
              <a:t>Respublikasining</a:t>
            </a:r>
            <a:r>
              <a:rPr sz="2000" dirty="0">
                <a:solidFill>
                  <a:srgbClr val="002060"/>
                </a:solidFill>
              </a:rPr>
              <a:t> Davlat patent </a:t>
            </a:r>
            <a:r>
              <a:rPr sz="2000" dirty="0" err="1">
                <a:solidFill>
                  <a:srgbClr val="002060"/>
                </a:solidFill>
              </a:rPr>
              <a:t>idorasi</a:t>
            </a:r>
            <a:r>
              <a:rPr sz="2000" dirty="0">
                <a:solidFill>
                  <a:srgbClr val="002060"/>
                </a:solidFill>
              </a:rPr>
              <a:t>.</a:t>
            </a:r>
          </a:p>
          <a:p>
            <a:pPr marL="0" indent="0">
              <a:buNone/>
            </a:pPr>
            <a:r>
              <a:rPr lang="en-US" sz="2000" dirty="0">
                <a:solidFill>
                  <a:srgbClr val="002060"/>
                </a:solidFill>
              </a:rPr>
              <a:t>2.</a:t>
            </a:r>
            <a:r>
              <a:rPr sz="2000" dirty="0">
                <a:solidFill>
                  <a:srgbClr val="002060"/>
                </a:solidFill>
              </a:rPr>
              <a:t>     </a:t>
            </a:r>
            <a:r>
              <a:rPr sz="2000" dirty="0" err="1">
                <a:solidFill>
                  <a:srgbClr val="002060"/>
                </a:solidFill>
              </a:rPr>
              <a:t>Sanoat</a:t>
            </a:r>
            <a:r>
              <a:rPr sz="2000" dirty="0">
                <a:solidFill>
                  <a:srgbClr val="002060"/>
                </a:solidFill>
              </a:rPr>
              <a:t> </a:t>
            </a:r>
            <a:r>
              <a:rPr sz="2000" dirty="0" err="1">
                <a:solidFill>
                  <a:srgbClr val="002060"/>
                </a:solidFill>
              </a:rPr>
              <a:t>mulki</a:t>
            </a:r>
            <a:r>
              <a:rPr sz="2000" dirty="0">
                <a:solidFill>
                  <a:srgbClr val="002060"/>
                </a:solidFill>
              </a:rPr>
              <a:t> </a:t>
            </a:r>
            <a:r>
              <a:rPr sz="2000" dirty="0" err="1">
                <a:solidFill>
                  <a:srgbClr val="002060"/>
                </a:solidFill>
              </a:rPr>
              <a:t>ob’ektlarini</a:t>
            </a:r>
            <a:r>
              <a:rPr sz="2000" dirty="0">
                <a:solidFill>
                  <a:srgbClr val="002060"/>
                </a:solidFill>
              </a:rPr>
              <a:t> </a:t>
            </a:r>
            <a:r>
              <a:rPr sz="2000" dirty="0" err="1">
                <a:solidFill>
                  <a:srgbClr val="002060"/>
                </a:solidFill>
              </a:rPr>
              <a:t>huquqiy</a:t>
            </a:r>
            <a:r>
              <a:rPr sz="2000" dirty="0">
                <a:solidFill>
                  <a:srgbClr val="002060"/>
                </a:solidFill>
              </a:rPr>
              <a:t> </a:t>
            </a:r>
            <a:r>
              <a:rPr sz="2000" dirty="0" err="1">
                <a:solidFill>
                  <a:srgbClr val="002060"/>
                </a:solidFill>
              </a:rPr>
              <a:t>jihatdan</a:t>
            </a:r>
            <a:r>
              <a:rPr sz="2000" dirty="0">
                <a:solidFill>
                  <a:srgbClr val="002060"/>
                </a:solidFill>
              </a:rPr>
              <a:t> </a:t>
            </a:r>
            <a:r>
              <a:rPr sz="2000" dirty="0" err="1">
                <a:solidFill>
                  <a:srgbClr val="002060"/>
                </a:solidFill>
              </a:rPr>
              <a:t>muhofaza</a:t>
            </a:r>
            <a:r>
              <a:rPr sz="2000" dirty="0">
                <a:solidFill>
                  <a:srgbClr val="002060"/>
                </a:solidFill>
              </a:rPr>
              <a:t> </a:t>
            </a:r>
            <a:r>
              <a:rPr sz="2000" dirty="0" err="1">
                <a:solidFill>
                  <a:srgbClr val="002060"/>
                </a:solidFill>
              </a:rPr>
              <a:t>qilish</a:t>
            </a:r>
            <a:r>
              <a:rPr sz="2000" dirty="0">
                <a:solidFill>
                  <a:srgbClr val="002060"/>
                </a:solidFill>
              </a:rPr>
              <a:t>. </a:t>
            </a:r>
            <a:endParaRPr lang="en-US" sz="2000" dirty="0">
              <a:solidFill>
                <a:srgbClr val="002060"/>
              </a:solidFill>
            </a:endParaRPr>
          </a:p>
          <a:p>
            <a:pPr marL="0" indent="0">
              <a:buNone/>
            </a:pPr>
            <a:r>
              <a:rPr lang="en-US" sz="2000" dirty="0">
                <a:solidFill>
                  <a:srgbClr val="002060"/>
                </a:solidFill>
              </a:rPr>
              <a:t>        </a:t>
            </a:r>
            <a:r>
              <a:rPr sz="2000" dirty="0" err="1">
                <a:solidFill>
                  <a:srgbClr val="002060"/>
                </a:solidFill>
              </a:rPr>
              <a:t>Sanoat</a:t>
            </a:r>
            <a:r>
              <a:rPr sz="2000" dirty="0">
                <a:solidFill>
                  <a:srgbClr val="002060"/>
                </a:solidFill>
              </a:rPr>
              <a:t> </a:t>
            </a:r>
            <a:r>
              <a:rPr sz="2000" dirty="0" err="1">
                <a:solidFill>
                  <a:srgbClr val="002060"/>
                </a:solidFill>
              </a:rPr>
              <a:t>mulki</a:t>
            </a:r>
            <a:r>
              <a:rPr sz="2000" dirty="0">
                <a:solidFill>
                  <a:srgbClr val="002060"/>
                </a:solidFill>
              </a:rPr>
              <a:t> </a:t>
            </a:r>
            <a:r>
              <a:rPr sz="2000" dirty="0" err="1">
                <a:solidFill>
                  <a:srgbClr val="002060"/>
                </a:solidFill>
              </a:rPr>
              <a:t>sub’ektining</a:t>
            </a:r>
            <a:r>
              <a:rPr sz="2000" dirty="0">
                <a:solidFill>
                  <a:srgbClr val="002060"/>
                </a:solidFill>
              </a:rPr>
              <a:t> </a:t>
            </a:r>
            <a:r>
              <a:rPr sz="2000" dirty="0" err="1">
                <a:solidFill>
                  <a:srgbClr val="002060"/>
                </a:solidFill>
              </a:rPr>
              <a:t>muallifi</a:t>
            </a:r>
            <a:r>
              <a:rPr sz="2000" dirty="0">
                <a:solidFill>
                  <a:srgbClr val="002060"/>
                </a:solidFill>
              </a:rPr>
              <a:t>.</a:t>
            </a:r>
          </a:p>
          <a:p>
            <a:pPr marL="0" indent="0">
              <a:buNone/>
            </a:pPr>
            <a:r>
              <a:rPr lang="en-US" sz="2000" dirty="0">
                <a:solidFill>
                  <a:srgbClr val="002060"/>
                </a:solidFill>
              </a:rPr>
              <a:t>3.     </a:t>
            </a:r>
            <a:r>
              <a:rPr sz="2000" dirty="0" err="1">
                <a:solidFill>
                  <a:srgbClr val="002060"/>
                </a:solidFill>
              </a:rPr>
              <a:t>O’zbekiston</a:t>
            </a:r>
            <a:r>
              <a:rPr sz="2000" dirty="0">
                <a:solidFill>
                  <a:srgbClr val="002060"/>
                </a:solidFill>
              </a:rPr>
              <a:t> </a:t>
            </a:r>
            <a:r>
              <a:rPr sz="2000" dirty="0" err="1">
                <a:solidFill>
                  <a:srgbClr val="002060"/>
                </a:solidFill>
              </a:rPr>
              <a:t>Respublikasining</a:t>
            </a:r>
            <a:r>
              <a:rPr sz="2000" dirty="0">
                <a:solidFill>
                  <a:srgbClr val="002060"/>
                </a:solidFill>
              </a:rPr>
              <a:t> </a:t>
            </a:r>
            <a:r>
              <a:rPr sz="2000" dirty="0" err="1">
                <a:solidFill>
                  <a:srgbClr val="002060"/>
                </a:solidFill>
              </a:rPr>
              <a:t>Intellektual</a:t>
            </a:r>
            <a:r>
              <a:rPr sz="2000" dirty="0">
                <a:solidFill>
                  <a:srgbClr val="002060"/>
                </a:solidFill>
              </a:rPr>
              <a:t> </a:t>
            </a:r>
            <a:r>
              <a:rPr sz="2000" dirty="0" err="1">
                <a:solidFill>
                  <a:srgbClr val="002060"/>
                </a:solidFill>
              </a:rPr>
              <a:t>mulk</a:t>
            </a:r>
            <a:r>
              <a:rPr sz="2000" dirty="0">
                <a:solidFill>
                  <a:srgbClr val="002060"/>
                </a:solidFill>
              </a:rPr>
              <a:t> </a:t>
            </a:r>
            <a:r>
              <a:rPr sz="2000" dirty="0" err="1">
                <a:solidFill>
                  <a:srgbClr val="002060"/>
                </a:solidFill>
              </a:rPr>
              <a:t>davlat</a:t>
            </a:r>
            <a:r>
              <a:rPr sz="2000" dirty="0">
                <a:solidFill>
                  <a:srgbClr val="002060"/>
                </a:solidFill>
              </a:rPr>
              <a:t> </a:t>
            </a:r>
            <a:r>
              <a:rPr sz="2000" dirty="0" err="1">
                <a:solidFill>
                  <a:srgbClr val="002060"/>
                </a:solidFill>
              </a:rPr>
              <a:t>fondi</a:t>
            </a:r>
            <a:endParaRPr sz="2000" dirty="0">
              <a:solidFill>
                <a:srgbClr val="002060"/>
              </a:solidFill>
            </a:endParaRPr>
          </a:p>
          <a:p>
            <a:endParaRPr sz="2000" dirty="0">
              <a:solidFill>
                <a:srgbClr val="00206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2400"/>
            </a:pPr>
            <a:r>
              <a:rPr dirty="0" err="1">
                <a:solidFill>
                  <a:srgbClr val="002060"/>
                </a:solidFill>
              </a:rPr>
              <a:t>O‘zbekiston</a:t>
            </a:r>
            <a:r>
              <a:rPr dirty="0">
                <a:solidFill>
                  <a:srgbClr val="002060"/>
                </a:solidFill>
              </a:rPr>
              <a:t> </a:t>
            </a:r>
            <a:r>
              <a:rPr dirty="0" err="1">
                <a:solidFill>
                  <a:srgbClr val="002060"/>
                </a:solidFill>
              </a:rPr>
              <a:t>Respublikasining</a:t>
            </a:r>
            <a:r>
              <a:rPr dirty="0">
                <a:solidFill>
                  <a:srgbClr val="002060"/>
                </a:solidFill>
              </a:rPr>
              <a:t> Davlat patent </a:t>
            </a:r>
            <a:r>
              <a:rPr dirty="0" err="1">
                <a:solidFill>
                  <a:srgbClr val="002060"/>
                </a:solidFill>
              </a:rPr>
              <a:t>idorasi</a:t>
            </a:r>
            <a:r>
              <a:rPr dirty="0">
                <a:solidFill>
                  <a:srgbClr val="002060"/>
                </a:solidFill>
              </a:rPr>
              <a:t>:</a:t>
            </a:r>
            <a:br>
              <a:rPr lang="en-US" dirty="0">
                <a:solidFill>
                  <a:srgbClr val="002060"/>
                </a:solidFill>
              </a:rPr>
            </a:br>
            <a:r>
              <a:rPr dirty="0">
                <a:solidFill>
                  <a:srgbClr val="002060"/>
                </a:solidFill>
              </a:rPr>
              <a:t> </a:t>
            </a:r>
            <a:r>
              <a:rPr dirty="0" err="1">
                <a:solidFill>
                  <a:srgbClr val="002060"/>
                </a:solidFill>
              </a:rPr>
              <a:t>tashkil</a:t>
            </a:r>
            <a:r>
              <a:rPr dirty="0">
                <a:solidFill>
                  <a:srgbClr val="002060"/>
                </a:solidFill>
              </a:rPr>
              <a:t> </a:t>
            </a:r>
            <a:r>
              <a:rPr dirty="0" err="1">
                <a:solidFill>
                  <a:srgbClr val="002060"/>
                </a:solidFill>
              </a:rPr>
              <a:t>topishi</a:t>
            </a:r>
            <a:r>
              <a:rPr dirty="0">
                <a:solidFill>
                  <a:srgbClr val="002060"/>
                </a:solidFill>
              </a:rPr>
              <a:t> </a:t>
            </a:r>
            <a:r>
              <a:rPr dirty="0" err="1">
                <a:solidFill>
                  <a:srgbClr val="002060"/>
                </a:solidFill>
              </a:rPr>
              <a:t>va</a:t>
            </a:r>
            <a:r>
              <a:rPr dirty="0">
                <a:solidFill>
                  <a:srgbClr val="002060"/>
                </a:solidFill>
              </a:rPr>
              <a:t> </a:t>
            </a:r>
            <a:r>
              <a:rPr dirty="0" err="1">
                <a:solidFill>
                  <a:srgbClr val="002060"/>
                </a:solidFill>
              </a:rPr>
              <a:t>asosiy</a:t>
            </a:r>
            <a:r>
              <a:rPr dirty="0">
                <a:solidFill>
                  <a:srgbClr val="002060"/>
                </a:solidFill>
              </a:rPr>
              <a:t> </a:t>
            </a:r>
            <a:r>
              <a:rPr dirty="0" err="1">
                <a:solidFill>
                  <a:srgbClr val="002060"/>
                </a:solidFill>
              </a:rPr>
              <a:t>vazifalari</a:t>
            </a:r>
            <a:endParaRPr dirty="0">
              <a:solidFill>
                <a:srgbClr val="002060"/>
              </a:solidFill>
            </a:endParaRPr>
          </a:p>
        </p:txBody>
      </p:sp>
      <p:sp>
        <p:nvSpPr>
          <p:cNvPr id="3" name="Rounded Rectangle 2"/>
          <p:cNvSpPr/>
          <p:nvPr/>
        </p:nvSpPr>
        <p:spPr>
          <a:xfrm>
            <a:off x="838199" y="1828800"/>
            <a:ext cx="10636045"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25441" y="2382812"/>
            <a:ext cx="2286000" cy="40011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sz="2000" b="1" dirty="0" err="1"/>
              <a:t>Tashkil</a:t>
            </a:r>
            <a:r>
              <a:rPr sz="2000" b="1" dirty="0"/>
              <a:t> </a:t>
            </a:r>
            <a:r>
              <a:rPr sz="2000" b="1" dirty="0" err="1"/>
              <a:t>topish</a:t>
            </a:r>
            <a:r>
              <a:rPr sz="2000" b="1" dirty="0"/>
              <a:t> </a:t>
            </a:r>
            <a:r>
              <a:rPr sz="2000" b="1" dirty="0" err="1"/>
              <a:t>tarixi</a:t>
            </a:r>
            <a:endParaRPr sz="2000" b="1" dirty="0"/>
          </a:p>
        </p:txBody>
      </p:sp>
      <p:sp>
        <p:nvSpPr>
          <p:cNvPr id="5" name="TextBox 4"/>
          <p:cNvSpPr txBox="1"/>
          <p:nvPr/>
        </p:nvSpPr>
        <p:spPr>
          <a:xfrm>
            <a:off x="2025441" y="3520440"/>
            <a:ext cx="2286000" cy="40011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sz="2000" b="1" dirty="0" err="1"/>
              <a:t>Asosiy</a:t>
            </a:r>
            <a:r>
              <a:rPr sz="1600" b="1" dirty="0"/>
              <a:t> </a:t>
            </a:r>
            <a:r>
              <a:rPr sz="1600" b="1" dirty="0" err="1"/>
              <a:t>vazifalar</a:t>
            </a:r>
            <a:endParaRPr sz="1600" b="1" dirty="0"/>
          </a:p>
        </p:txBody>
      </p:sp>
      <p:sp>
        <p:nvSpPr>
          <p:cNvPr id="6" name="TextBox 5"/>
          <p:cNvSpPr txBox="1"/>
          <p:nvPr/>
        </p:nvSpPr>
        <p:spPr>
          <a:xfrm>
            <a:off x="2025441" y="4867784"/>
            <a:ext cx="2286000"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sz="2000" b="1" dirty="0" err="1"/>
              <a:t>Xalqaro</a:t>
            </a:r>
            <a:r>
              <a:rPr sz="2000" b="1" dirty="0"/>
              <a:t> </a:t>
            </a:r>
            <a:r>
              <a:rPr sz="2000" b="1" dirty="0" err="1"/>
              <a:t>hamkorlik</a:t>
            </a:r>
            <a:endParaRPr sz="2000" b="1" dirty="0"/>
          </a:p>
        </p:txBody>
      </p:sp>
      <p:sp>
        <p:nvSpPr>
          <p:cNvPr id="7" name="TextBox 6"/>
          <p:cNvSpPr txBox="1"/>
          <p:nvPr/>
        </p:nvSpPr>
        <p:spPr>
          <a:xfrm>
            <a:off x="4724400" y="2064221"/>
            <a:ext cx="6336890" cy="101566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sz="2000" b="0" dirty="0" err="1"/>
              <a:t>O‘zbekiston</a:t>
            </a:r>
            <a:r>
              <a:rPr sz="2000" b="0" dirty="0"/>
              <a:t> </a:t>
            </a:r>
            <a:r>
              <a:rPr sz="2000" b="0" dirty="0" err="1"/>
              <a:t>Respublikasining</a:t>
            </a:r>
            <a:r>
              <a:rPr sz="2000" b="0" dirty="0"/>
              <a:t> Davlat patent </a:t>
            </a:r>
            <a:r>
              <a:rPr sz="2000" b="0" dirty="0" err="1"/>
              <a:t>idorasi</a:t>
            </a:r>
            <a:r>
              <a:rPr sz="2000" b="0" dirty="0"/>
              <a:t> 1992-yilda </a:t>
            </a:r>
            <a:r>
              <a:rPr sz="2000" b="0" dirty="0" err="1"/>
              <a:t>tashkil</a:t>
            </a:r>
            <a:r>
              <a:rPr sz="2000" b="0" dirty="0"/>
              <a:t> </a:t>
            </a:r>
            <a:r>
              <a:rPr sz="2000" b="0" dirty="0" err="1"/>
              <a:t>etilgan</a:t>
            </a:r>
            <a:r>
              <a:rPr sz="2000" b="0" dirty="0"/>
              <a:t> </a:t>
            </a:r>
            <a:r>
              <a:rPr sz="2000" b="0" dirty="0" err="1"/>
              <a:t>bo‘lib</a:t>
            </a:r>
            <a:r>
              <a:rPr sz="2000" b="0" dirty="0"/>
              <a:t>, </a:t>
            </a:r>
            <a:r>
              <a:rPr sz="2000" b="0" dirty="0" err="1"/>
              <a:t>mamlakatda</a:t>
            </a:r>
            <a:r>
              <a:rPr sz="2000" b="0" dirty="0"/>
              <a:t> </a:t>
            </a:r>
            <a:r>
              <a:rPr sz="2000" b="0" dirty="0" err="1"/>
              <a:t>sanoat</a:t>
            </a:r>
            <a:r>
              <a:rPr sz="2000" b="0" dirty="0"/>
              <a:t> </a:t>
            </a:r>
            <a:r>
              <a:rPr sz="2000" b="0" dirty="0" err="1"/>
              <a:t>mulkini</a:t>
            </a:r>
            <a:r>
              <a:rPr sz="2000" b="0" dirty="0"/>
              <a:t> </a:t>
            </a:r>
            <a:r>
              <a:rPr sz="2000" b="0" dirty="0" err="1"/>
              <a:t>himoya</a:t>
            </a:r>
            <a:r>
              <a:rPr sz="2000" b="0" dirty="0"/>
              <a:t> </a:t>
            </a:r>
            <a:r>
              <a:rPr sz="2000" b="0" dirty="0" err="1"/>
              <a:t>qilishda</a:t>
            </a:r>
            <a:r>
              <a:rPr sz="2000" b="0" dirty="0"/>
              <a:t> </a:t>
            </a:r>
            <a:r>
              <a:rPr sz="2000" b="0" dirty="0" err="1"/>
              <a:t>asosiy</a:t>
            </a:r>
            <a:r>
              <a:rPr sz="2000" b="0" dirty="0"/>
              <a:t> </a:t>
            </a:r>
            <a:r>
              <a:rPr sz="2000" b="0" dirty="0" err="1"/>
              <a:t>rol</a:t>
            </a:r>
            <a:r>
              <a:rPr sz="2000" b="0" dirty="0"/>
              <a:t> </a:t>
            </a:r>
            <a:r>
              <a:rPr sz="2000" b="0" dirty="0" err="1"/>
              <a:t>o‘ynaydi</a:t>
            </a:r>
            <a:r>
              <a:rPr sz="2000" b="0" dirty="0"/>
              <a:t>.</a:t>
            </a:r>
          </a:p>
        </p:txBody>
      </p:sp>
      <p:sp>
        <p:nvSpPr>
          <p:cNvPr id="8" name="TextBox 7"/>
          <p:cNvSpPr txBox="1"/>
          <p:nvPr/>
        </p:nvSpPr>
        <p:spPr>
          <a:xfrm>
            <a:off x="4724398" y="3257182"/>
            <a:ext cx="6336889" cy="1015663"/>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sz="2000" b="0" dirty="0" err="1"/>
              <a:t>Idoraning</a:t>
            </a:r>
            <a:r>
              <a:rPr sz="2000" b="0" dirty="0"/>
              <a:t> </a:t>
            </a:r>
            <a:r>
              <a:rPr sz="2000" b="0" dirty="0" err="1"/>
              <a:t>asosiy</a:t>
            </a:r>
            <a:r>
              <a:rPr sz="2000" b="0" dirty="0"/>
              <a:t> </a:t>
            </a:r>
            <a:r>
              <a:rPr sz="2000" b="0" dirty="0" err="1"/>
              <a:t>vazifalari</a:t>
            </a:r>
            <a:r>
              <a:rPr sz="2000" b="0" dirty="0"/>
              <a:t> – </a:t>
            </a:r>
            <a:r>
              <a:rPr sz="2000" b="0" dirty="0" err="1"/>
              <a:t>patentlarni</a:t>
            </a:r>
            <a:r>
              <a:rPr sz="2000" b="0" dirty="0"/>
              <a:t> </a:t>
            </a:r>
            <a:r>
              <a:rPr sz="2000" b="0" dirty="0" err="1"/>
              <a:t>berish</a:t>
            </a:r>
            <a:r>
              <a:rPr sz="2000" b="0" dirty="0"/>
              <a:t>, </a:t>
            </a:r>
            <a:r>
              <a:rPr sz="2000" b="0" dirty="0" err="1"/>
              <a:t>sanoat</a:t>
            </a:r>
            <a:r>
              <a:rPr sz="2000" b="0" dirty="0"/>
              <a:t> </a:t>
            </a:r>
            <a:r>
              <a:rPr sz="2000" b="0" dirty="0" err="1"/>
              <a:t>mulkini</a:t>
            </a:r>
            <a:r>
              <a:rPr sz="2000" b="0" dirty="0"/>
              <a:t> </a:t>
            </a:r>
            <a:r>
              <a:rPr sz="2000" b="0" dirty="0" err="1"/>
              <a:t>huquqiy</a:t>
            </a:r>
            <a:r>
              <a:rPr sz="2000" b="0" dirty="0"/>
              <a:t> </a:t>
            </a:r>
            <a:r>
              <a:rPr sz="2000" b="0" dirty="0" err="1"/>
              <a:t>muhofaza</a:t>
            </a:r>
            <a:r>
              <a:rPr sz="2000" b="0" dirty="0"/>
              <a:t> </a:t>
            </a:r>
            <a:r>
              <a:rPr sz="2000" b="0" dirty="0" err="1"/>
              <a:t>qilish</a:t>
            </a:r>
            <a:r>
              <a:rPr sz="2000" b="0" dirty="0"/>
              <a:t> </a:t>
            </a:r>
            <a:r>
              <a:rPr sz="2000" b="0" dirty="0" err="1"/>
              <a:t>va</a:t>
            </a:r>
            <a:r>
              <a:rPr sz="2000" b="0" dirty="0"/>
              <a:t> </a:t>
            </a:r>
            <a:r>
              <a:rPr sz="2000" b="0" dirty="0" err="1"/>
              <a:t>texnik</a:t>
            </a:r>
            <a:r>
              <a:rPr sz="2000" b="0" dirty="0"/>
              <a:t> </a:t>
            </a:r>
            <a:r>
              <a:rPr sz="2000" b="0" dirty="0" err="1"/>
              <a:t>ijodkorlikni</a:t>
            </a:r>
            <a:r>
              <a:rPr sz="2000" b="0" dirty="0"/>
              <a:t> </a:t>
            </a:r>
            <a:r>
              <a:rPr sz="2000" b="0" dirty="0" err="1"/>
              <a:t>rag‘batlantirishga</a:t>
            </a:r>
            <a:r>
              <a:rPr sz="2000" b="0" dirty="0"/>
              <a:t> </a:t>
            </a:r>
            <a:r>
              <a:rPr sz="2000" b="0" dirty="0" err="1"/>
              <a:t>qaratilgan</a:t>
            </a:r>
            <a:r>
              <a:rPr sz="2000" b="0" dirty="0"/>
              <a:t>.</a:t>
            </a:r>
          </a:p>
        </p:txBody>
      </p:sp>
      <p:sp>
        <p:nvSpPr>
          <p:cNvPr id="9" name="TextBox 8"/>
          <p:cNvSpPr txBox="1"/>
          <p:nvPr/>
        </p:nvSpPr>
        <p:spPr>
          <a:xfrm>
            <a:off x="4724399" y="4572000"/>
            <a:ext cx="6336887" cy="1015663"/>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sz="2000" b="0" dirty="0"/>
              <a:t>Patent </a:t>
            </a:r>
            <a:r>
              <a:rPr sz="2000" b="0" dirty="0" err="1"/>
              <a:t>idorasi</a:t>
            </a:r>
            <a:r>
              <a:rPr sz="2000" b="0" dirty="0"/>
              <a:t> </a:t>
            </a:r>
            <a:r>
              <a:rPr sz="2000" b="0" dirty="0" err="1"/>
              <a:t>xalqaro</a:t>
            </a:r>
            <a:r>
              <a:rPr sz="2000" b="0" dirty="0"/>
              <a:t> </a:t>
            </a:r>
            <a:r>
              <a:rPr sz="2000" b="0" dirty="0" err="1"/>
              <a:t>tashkilotlar</a:t>
            </a:r>
            <a:r>
              <a:rPr sz="2000" b="0" dirty="0"/>
              <a:t> </a:t>
            </a:r>
            <a:r>
              <a:rPr sz="2000" b="0" dirty="0" err="1"/>
              <a:t>bilan</a:t>
            </a:r>
            <a:r>
              <a:rPr sz="2000" b="0" dirty="0"/>
              <a:t> </a:t>
            </a:r>
            <a:r>
              <a:rPr sz="2000" b="0" dirty="0" err="1"/>
              <a:t>hamkorlik</a:t>
            </a:r>
            <a:r>
              <a:rPr sz="2000" b="0" dirty="0"/>
              <a:t> </a:t>
            </a:r>
            <a:r>
              <a:rPr sz="2000" b="0" dirty="0" err="1"/>
              <a:t>qilib</a:t>
            </a:r>
            <a:r>
              <a:rPr sz="2000" b="0" dirty="0"/>
              <a:t>, global patent </a:t>
            </a:r>
            <a:r>
              <a:rPr sz="2000" b="0" dirty="0" err="1"/>
              <a:t>tizimlariga</a:t>
            </a:r>
            <a:r>
              <a:rPr sz="2000" b="0" dirty="0"/>
              <a:t> </a:t>
            </a:r>
            <a:r>
              <a:rPr sz="2000" b="0" dirty="0" err="1"/>
              <a:t>integratsiya</a:t>
            </a:r>
            <a:r>
              <a:rPr sz="2000" b="0" dirty="0"/>
              <a:t> </a:t>
            </a:r>
            <a:r>
              <a:rPr sz="2000" b="0" dirty="0" err="1"/>
              <a:t>va</a:t>
            </a:r>
            <a:r>
              <a:rPr sz="2000" b="0" dirty="0"/>
              <a:t> </a:t>
            </a:r>
            <a:r>
              <a:rPr sz="2000" b="0" dirty="0" err="1"/>
              <a:t>zamonaviy</a:t>
            </a:r>
            <a:r>
              <a:rPr sz="2000" b="0" dirty="0"/>
              <a:t> </a:t>
            </a:r>
            <a:r>
              <a:rPr sz="2000" b="0" dirty="0" err="1"/>
              <a:t>tajribalarni</a:t>
            </a:r>
            <a:r>
              <a:rPr sz="2000" b="0" dirty="0"/>
              <a:t> </a:t>
            </a:r>
            <a:r>
              <a:rPr sz="2000" b="0" dirty="0" err="1"/>
              <a:t>joriy</a:t>
            </a:r>
            <a:r>
              <a:rPr sz="2000" b="0" dirty="0"/>
              <a:t> </a:t>
            </a:r>
            <a:r>
              <a:rPr sz="2000" b="0" dirty="0" err="1"/>
              <a:t>etadi</a:t>
            </a:r>
            <a:r>
              <a:rPr sz="2000" b="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2400"/>
            </a:pPr>
            <a:r>
              <a:rPr sz="4000" b="1" dirty="0">
                <a:solidFill>
                  <a:srgbClr val="0070C0"/>
                </a:solidFill>
              </a:rPr>
              <a:t>Patent </a:t>
            </a:r>
            <a:r>
              <a:rPr sz="4000" b="1" dirty="0" err="1">
                <a:solidFill>
                  <a:srgbClr val="0070C0"/>
                </a:solidFill>
              </a:rPr>
              <a:t>idorasining</a:t>
            </a:r>
            <a:r>
              <a:rPr sz="4000" b="1" dirty="0">
                <a:solidFill>
                  <a:srgbClr val="0070C0"/>
                </a:solidFill>
              </a:rPr>
              <a:t> </a:t>
            </a:r>
            <a:r>
              <a:rPr sz="4000" b="1" dirty="0" err="1">
                <a:solidFill>
                  <a:srgbClr val="0070C0"/>
                </a:solidFill>
              </a:rPr>
              <a:t>texnik</a:t>
            </a:r>
            <a:r>
              <a:rPr sz="4000" b="1" dirty="0">
                <a:solidFill>
                  <a:srgbClr val="0070C0"/>
                </a:solidFill>
              </a:rPr>
              <a:t> </a:t>
            </a:r>
            <a:r>
              <a:rPr sz="4000" b="1" dirty="0" err="1">
                <a:solidFill>
                  <a:srgbClr val="0070C0"/>
                </a:solidFill>
              </a:rPr>
              <a:t>ijodkorlikni</a:t>
            </a:r>
            <a:r>
              <a:rPr sz="4000" b="1" dirty="0">
                <a:solidFill>
                  <a:srgbClr val="0070C0"/>
                </a:solidFill>
              </a:rPr>
              <a:t> </a:t>
            </a:r>
            <a:r>
              <a:rPr sz="4000" b="1" dirty="0" err="1">
                <a:solidFill>
                  <a:srgbClr val="0070C0"/>
                </a:solidFill>
              </a:rPr>
              <a:t>rivojlantirishdagi</a:t>
            </a:r>
            <a:r>
              <a:rPr sz="4000" b="1" dirty="0">
                <a:solidFill>
                  <a:srgbClr val="0070C0"/>
                </a:solidFill>
              </a:rPr>
              <a:t> </a:t>
            </a:r>
            <a:r>
              <a:rPr sz="4000" b="1" dirty="0" err="1">
                <a:solidFill>
                  <a:srgbClr val="0070C0"/>
                </a:solidFill>
              </a:rPr>
              <a:t>o‘rni</a:t>
            </a:r>
            <a:endParaRPr sz="4000" b="1" dirty="0">
              <a:solidFill>
                <a:srgbClr val="0070C0"/>
              </a:solidFill>
            </a:endParaRPr>
          </a:p>
        </p:txBody>
      </p:sp>
      <p:sp>
        <p:nvSpPr>
          <p:cNvPr id="3" name="Rounded Rectangle 2"/>
          <p:cNvSpPr/>
          <p:nvPr/>
        </p:nvSpPr>
        <p:spPr>
          <a:xfrm>
            <a:off x="252984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61360" y="2468880"/>
            <a:ext cx="2194560" cy="914400"/>
          </a:xfrm>
          <a:prstGeom prst="rect">
            <a:avLst/>
          </a:prstGeom>
          <a:noFill/>
        </p:spPr>
        <p:txBody>
          <a:bodyPr wrap="square">
            <a:spAutoFit/>
          </a:bodyPr>
          <a:lstStyle/>
          <a:p>
            <a:r>
              <a:rPr sz="3600" b="1"/>
              <a:t>01</a:t>
            </a:r>
          </a:p>
        </p:txBody>
      </p:sp>
      <p:sp>
        <p:nvSpPr>
          <p:cNvPr id="5" name="TextBox 4"/>
          <p:cNvSpPr txBox="1"/>
          <p:nvPr/>
        </p:nvSpPr>
        <p:spPr>
          <a:xfrm>
            <a:off x="2529840" y="3063240"/>
            <a:ext cx="2194560" cy="457200"/>
          </a:xfrm>
          <a:prstGeom prst="rect">
            <a:avLst/>
          </a:prstGeom>
          <a:noFill/>
        </p:spPr>
        <p:txBody>
          <a:bodyPr wrap="square">
            <a:spAutoFit/>
          </a:bodyPr>
          <a:lstStyle/>
          <a:p>
            <a:r>
              <a:rPr sz="1800" b="1" dirty="0" err="1"/>
              <a:t>Innovatsiyani</a:t>
            </a:r>
            <a:r>
              <a:rPr sz="1800" b="1" dirty="0"/>
              <a:t> </a:t>
            </a:r>
            <a:r>
              <a:rPr sz="1800" b="1" dirty="0" err="1"/>
              <a:t>rag‘batlantirish</a:t>
            </a:r>
            <a:endParaRPr sz="1800" b="1" dirty="0"/>
          </a:p>
        </p:txBody>
      </p:sp>
      <p:sp>
        <p:nvSpPr>
          <p:cNvPr id="6" name="TextBox 5"/>
          <p:cNvSpPr txBox="1"/>
          <p:nvPr/>
        </p:nvSpPr>
        <p:spPr>
          <a:xfrm>
            <a:off x="2529840" y="3931920"/>
            <a:ext cx="2194560" cy="2743200"/>
          </a:xfrm>
          <a:prstGeom prst="rect">
            <a:avLst/>
          </a:prstGeom>
          <a:noFill/>
        </p:spPr>
        <p:txBody>
          <a:bodyPr wrap="square">
            <a:spAutoFit/>
          </a:bodyPr>
          <a:lstStyle/>
          <a:p>
            <a:r>
              <a:rPr sz="1400" b="0" dirty="0"/>
              <a:t>Patent </a:t>
            </a:r>
            <a:r>
              <a:rPr sz="1400" b="0" dirty="0" err="1"/>
              <a:t>idorasi</a:t>
            </a:r>
            <a:r>
              <a:rPr sz="1400" b="0" dirty="0"/>
              <a:t> </a:t>
            </a:r>
            <a:r>
              <a:rPr sz="1400" b="0" dirty="0" err="1"/>
              <a:t>yangi</a:t>
            </a:r>
            <a:r>
              <a:rPr sz="1400" b="0" dirty="0"/>
              <a:t> </a:t>
            </a:r>
            <a:r>
              <a:rPr sz="1400" b="0" dirty="0" err="1"/>
              <a:t>texnik</a:t>
            </a:r>
            <a:r>
              <a:rPr sz="1400" b="0" dirty="0"/>
              <a:t> </a:t>
            </a:r>
            <a:r>
              <a:rPr sz="1400" b="0" dirty="0" err="1"/>
              <a:t>yechimlarni</a:t>
            </a:r>
            <a:r>
              <a:rPr sz="1400" b="0" dirty="0"/>
              <a:t> </a:t>
            </a:r>
            <a:r>
              <a:rPr sz="1400" b="0" dirty="0" err="1"/>
              <a:t>himoya</a:t>
            </a:r>
            <a:r>
              <a:rPr sz="1400" b="0" dirty="0"/>
              <a:t> </a:t>
            </a:r>
            <a:r>
              <a:rPr sz="1400" b="0" dirty="0" err="1"/>
              <a:t>qilish</a:t>
            </a:r>
            <a:r>
              <a:rPr sz="1400" b="0" dirty="0"/>
              <a:t> </a:t>
            </a:r>
            <a:r>
              <a:rPr sz="1400" b="0" dirty="0" err="1"/>
              <a:t>orqali</a:t>
            </a:r>
            <a:r>
              <a:rPr sz="1400" b="0" dirty="0"/>
              <a:t> </a:t>
            </a:r>
            <a:r>
              <a:rPr sz="1400" b="0" dirty="0" err="1"/>
              <a:t>mualliflarni</a:t>
            </a:r>
            <a:r>
              <a:rPr sz="1400" b="0" dirty="0"/>
              <a:t> </a:t>
            </a:r>
            <a:r>
              <a:rPr sz="1400" b="0" dirty="0" err="1"/>
              <a:t>innovatsion</a:t>
            </a:r>
            <a:r>
              <a:rPr sz="1400" b="0" dirty="0"/>
              <a:t> </a:t>
            </a:r>
            <a:r>
              <a:rPr sz="1400" b="0" dirty="0" err="1"/>
              <a:t>ishlanmalar</a:t>
            </a:r>
            <a:r>
              <a:rPr sz="1400" b="0" dirty="0"/>
              <a:t> </a:t>
            </a:r>
            <a:r>
              <a:rPr sz="1400" b="0" dirty="0" err="1"/>
              <a:t>yaratishga</a:t>
            </a:r>
            <a:r>
              <a:rPr sz="1400" b="0" dirty="0"/>
              <a:t> </a:t>
            </a:r>
            <a:r>
              <a:rPr sz="1400" b="0" dirty="0" err="1"/>
              <a:t>va</a:t>
            </a:r>
            <a:r>
              <a:rPr sz="1400" b="0" dirty="0"/>
              <a:t> </a:t>
            </a:r>
            <a:r>
              <a:rPr sz="1400" b="0" dirty="0" err="1"/>
              <a:t>ularni</a:t>
            </a:r>
            <a:r>
              <a:rPr sz="1400" b="0" dirty="0"/>
              <a:t> </a:t>
            </a:r>
            <a:r>
              <a:rPr sz="1400" b="0" dirty="0" err="1"/>
              <a:t>amaliyotga</a:t>
            </a:r>
            <a:r>
              <a:rPr sz="1400" b="0" dirty="0"/>
              <a:t> </a:t>
            </a:r>
            <a:r>
              <a:rPr sz="1400" b="0" dirty="0" err="1"/>
              <a:t>joriy</a:t>
            </a:r>
            <a:r>
              <a:rPr sz="1400" b="0" dirty="0"/>
              <a:t> </a:t>
            </a:r>
            <a:r>
              <a:rPr sz="1400" b="0" dirty="0" err="1"/>
              <a:t>etishga</a:t>
            </a:r>
            <a:r>
              <a:rPr sz="1400" b="0" dirty="0"/>
              <a:t> </a:t>
            </a:r>
            <a:r>
              <a:rPr sz="1400" b="0" dirty="0" err="1"/>
              <a:t>undaydi</a:t>
            </a:r>
            <a:r>
              <a:rPr sz="1400" b="0" dirty="0"/>
              <a:t>.</a:t>
            </a:r>
          </a:p>
        </p:txBody>
      </p:sp>
      <p:sp>
        <p:nvSpPr>
          <p:cNvPr id="7" name="Rounded Rectangle 6"/>
          <p:cNvSpPr/>
          <p:nvPr/>
        </p:nvSpPr>
        <p:spPr>
          <a:xfrm>
            <a:off x="499872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30240" y="2468880"/>
            <a:ext cx="2194560" cy="914400"/>
          </a:xfrm>
          <a:prstGeom prst="rect">
            <a:avLst/>
          </a:prstGeom>
          <a:noFill/>
        </p:spPr>
        <p:txBody>
          <a:bodyPr wrap="square">
            <a:spAutoFit/>
          </a:bodyPr>
          <a:lstStyle/>
          <a:p>
            <a:r>
              <a:rPr sz="3600" b="1"/>
              <a:t>02</a:t>
            </a:r>
          </a:p>
        </p:txBody>
      </p:sp>
      <p:sp>
        <p:nvSpPr>
          <p:cNvPr id="9" name="TextBox 8"/>
          <p:cNvSpPr txBox="1"/>
          <p:nvPr/>
        </p:nvSpPr>
        <p:spPr>
          <a:xfrm>
            <a:off x="4998720" y="3063240"/>
            <a:ext cx="2194560" cy="457200"/>
          </a:xfrm>
          <a:prstGeom prst="rect">
            <a:avLst/>
          </a:prstGeom>
          <a:noFill/>
        </p:spPr>
        <p:txBody>
          <a:bodyPr wrap="square">
            <a:spAutoFit/>
          </a:bodyPr>
          <a:lstStyle/>
          <a:p>
            <a:r>
              <a:rPr sz="1800" b="1"/>
              <a:t>Axborot resurslari</a:t>
            </a:r>
          </a:p>
        </p:txBody>
      </p:sp>
      <p:sp>
        <p:nvSpPr>
          <p:cNvPr id="10" name="TextBox 9"/>
          <p:cNvSpPr txBox="1"/>
          <p:nvPr/>
        </p:nvSpPr>
        <p:spPr>
          <a:xfrm>
            <a:off x="4998720" y="3931920"/>
            <a:ext cx="2194560" cy="2743200"/>
          </a:xfrm>
          <a:prstGeom prst="rect">
            <a:avLst/>
          </a:prstGeom>
          <a:noFill/>
        </p:spPr>
        <p:txBody>
          <a:bodyPr wrap="square">
            <a:spAutoFit/>
          </a:bodyPr>
          <a:lstStyle/>
          <a:p>
            <a:r>
              <a:rPr sz="1400" b="0"/>
              <a:t>Patent idorasi texnik yangiliklar va patent axborotini taqdim etib, tadqiqotchilar va muhandislarga zamonaviy g‘oyalardan samarali foydalanish imkonini beradi.</a:t>
            </a:r>
          </a:p>
        </p:txBody>
      </p:sp>
      <p:sp>
        <p:nvSpPr>
          <p:cNvPr id="11" name="Rounded Rectangle 10"/>
          <p:cNvSpPr/>
          <p:nvPr/>
        </p:nvSpPr>
        <p:spPr>
          <a:xfrm>
            <a:off x="746760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99120" y="2468880"/>
            <a:ext cx="2194560" cy="914400"/>
          </a:xfrm>
          <a:prstGeom prst="rect">
            <a:avLst/>
          </a:prstGeom>
          <a:noFill/>
        </p:spPr>
        <p:txBody>
          <a:bodyPr wrap="square">
            <a:spAutoFit/>
          </a:bodyPr>
          <a:lstStyle/>
          <a:p>
            <a:r>
              <a:rPr sz="3600" b="1"/>
              <a:t>03</a:t>
            </a:r>
          </a:p>
        </p:txBody>
      </p:sp>
      <p:sp>
        <p:nvSpPr>
          <p:cNvPr id="13" name="TextBox 12"/>
          <p:cNvSpPr txBox="1"/>
          <p:nvPr/>
        </p:nvSpPr>
        <p:spPr>
          <a:xfrm>
            <a:off x="7467600" y="3063240"/>
            <a:ext cx="2194560" cy="457200"/>
          </a:xfrm>
          <a:prstGeom prst="rect">
            <a:avLst/>
          </a:prstGeom>
          <a:noFill/>
        </p:spPr>
        <p:txBody>
          <a:bodyPr wrap="square">
            <a:spAutoFit/>
          </a:bodyPr>
          <a:lstStyle/>
          <a:p>
            <a:r>
              <a:rPr sz="1800" b="1"/>
              <a:t>Ijodiy muhit yaratish</a:t>
            </a:r>
          </a:p>
        </p:txBody>
      </p:sp>
      <p:sp>
        <p:nvSpPr>
          <p:cNvPr id="14" name="TextBox 13"/>
          <p:cNvSpPr txBox="1"/>
          <p:nvPr/>
        </p:nvSpPr>
        <p:spPr>
          <a:xfrm>
            <a:off x="7467600" y="3931920"/>
            <a:ext cx="2194560" cy="2743200"/>
          </a:xfrm>
          <a:prstGeom prst="rect">
            <a:avLst/>
          </a:prstGeom>
          <a:noFill/>
        </p:spPr>
        <p:txBody>
          <a:bodyPr wrap="square">
            <a:spAutoFit/>
          </a:bodyPr>
          <a:lstStyle/>
          <a:p>
            <a:r>
              <a:rPr sz="1400" b="0"/>
              <a:t>Patent idorasi sanoat mulkini himoya qilish orqali texnik ijodkorlik uchun qulay huquqiy va tashkiliy muhit shakllanishiga xizmat qiladi.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2400"/>
            </a:pPr>
            <a:r>
              <a:rPr sz="4000" dirty="0" err="1">
                <a:solidFill>
                  <a:srgbClr val="002060"/>
                </a:solidFill>
              </a:rPr>
              <a:t>Sanoat</a:t>
            </a:r>
            <a:r>
              <a:rPr sz="4000" dirty="0">
                <a:solidFill>
                  <a:srgbClr val="002060"/>
                </a:solidFill>
              </a:rPr>
              <a:t> </a:t>
            </a:r>
            <a:r>
              <a:rPr sz="4000" dirty="0" err="1">
                <a:solidFill>
                  <a:srgbClr val="002060"/>
                </a:solidFill>
              </a:rPr>
              <a:t>mulki</a:t>
            </a:r>
            <a:r>
              <a:rPr sz="4000" dirty="0">
                <a:solidFill>
                  <a:srgbClr val="002060"/>
                </a:solidFill>
              </a:rPr>
              <a:t> </a:t>
            </a:r>
            <a:r>
              <a:rPr sz="4000" dirty="0" err="1">
                <a:solidFill>
                  <a:srgbClr val="002060"/>
                </a:solidFill>
              </a:rPr>
              <a:t>huquqlarini</a:t>
            </a:r>
            <a:r>
              <a:rPr sz="4000" dirty="0">
                <a:solidFill>
                  <a:srgbClr val="002060"/>
                </a:solidFill>
              </a:rPr>
              <a:t> </a:t>
            </a:r>
            <a:r>
              <a:rPr sz="4000" dirty="0" err="1">
                <a:solidFill>
                  <a:srgbClr val="002060"/>
                </a:solidFill>
              </a:rPr>
              <a:t>himoya</a:t>
            </a:r>
            <a:r>
              <a:rPr sz="4000" dirty="0">
                <a:solidFill>
                  <a:srgbClr val="002060"/>
                </a:solidFill>
              </a:rPr>
              <a:t> </a:t>
            </a:r>
            <a:r>
              <a:rPr sz="4000" dirty="0" err="1">
                <a:solidFill>
                  <a:srgbClr val="002060"/>
                </a:solidFill>
              </a:rPr>
              <a:t>qilishda</a:t>
            </a:r>
            <a:r>
              <a:rPr sz="4000" dirty="0">
                <a:solidFill>
                  <a:srgbClr val="002060"/>
                </a:solidFill>
              </a:rPr>
              <a:t> patent </a:t>
            </a:r>
            <a:r>
              <a:rPr sz="4000" dirty="0" err="1">
                <a:solidFill>
                  <a:srgbClr val="002060"/>
                </a:solidFill>
              </a:rPr>
              <a:t>idorasining</a:t>
            </a:r>
            <a:r>
              <a:rPr sz="4000" dirty="0">
                <a:solidFill>
                  <a:srgbClr val="002060"/>
                </a:solidFill>
              </a:rPr>
              <a:t> </a:t>
            </a:r>
            <a:r>
              <a:rPr sz="4000" dirty="0" err="1">
                <a:solidFill>
                  <a:srgbClr val="002060"/>
                </a:solidFill>
              </a:rPr>
              <a:t>roli</a:t>
            </a:r>
            <a:endParaRPr sz="4000" dirty="0">
              <a:solidFill>
                <a:srgbClr val="002060"/>
              </a:solidFill>
            </a:endParaRPr>
          </a:p>
        </p:txBody>
      </p:sp>
      <p:sp>
        <p:nvSpPr>
          <p:cNvPr id="3" name="Rounded Rectangle 2"/>
          <p:cNvSpPr/>
          <p:nvPr/>
        </p:nvSpPr>
        <p:spPr>
          <a:xfrm>
            <a:off x="1981200" y="2286000"/>
            <a:ext cx="8229600" cy="3474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438400" y="2743200"/>
            <a:ext cx="2286000" cy="274320"/>
          </a:xfrm>
          <a:prstGeom prst="rect">
            <a:avLst/>
          </a:prstGeom>
          <a:noFill/>
        </p:spPr>
        <p:txBody>
          <a:bodyPr wrap="square">
            <a:spAutoFit/>
          </a:bodyPr>
          <a:lstStyle/>
          <a:p>
            <a:r>
              <a:rPr sz="1600" b="1"/>
              <a:t>Huquqiy himoya mexanizmlari</a:t>
            </a:r>
          </a:p>
        </p:txBody>
      </p:sp>
      <p:sp>
        <p:nvSpPr>
          <p:cNvPr id="5" name="TextBox 4"/>
          <p:cNvSpPr txBox="1"/>
          <p:nvPr/>
        </p:nvSpPr>
        <p:spPr>
          <a:xfrm>
            <a:off x="2438400" y="3886200"/>
            <a:ext cx="2286000" cy="274320"/>
          </a:xfrm>
          <a:prstGeom prst="rect">
            <a:avLst/>
          </a:prstGeom>
          <a:noFill/>
        </p:spPr>
        <p:txBody>
          <a:bodyPr wrap="square">
            <a:spAutoFit/>
          </a:bodyPr>
          <a:lstStyle/>
          <a:p>
            <a:r>
              <a:rPr sz="1600" b="1"/>
              <a:t>Patent ekspertizasi</a:t>
            </a:r>
          </a:p>
        </p:txBody>
      </p:sp>
      <p:sp>
        <p:nvSpPr>
          <p:cNvPr id="6" name="TextBox 5"/>
          <p:cNvSpPr txBox="1"/>
          <p:nvPr/>
        </p:nvSpPr>
        <p:spPr>
          <a:xfrm>
            <a:off x="2438400" y="5029200"/>
            <a:ext cx="2286000" cy="274320"/>
          </a:xfrm>
          <a:prstGeom prst="rect">
            <a:avLst/>
          </a:prstGeom>
          <a:noFill/>
        </p:spPr>
        <p:txBody>
          <a:bodyPr wrap="square">
            <a:spAutoFit/>
          </a:bodyPr>
          <a:lstStyle/>
          <a:p>
            <a:r>
              <a:rPr sz="1400" b="1"/>
              <a:t>Huquqbuzarliklarga qarshi kurash</a:t>
            </a:r>
          </a:p>
        </p:txBody>
      </p:sp>
      <p:sp>
        <p:nvSpPr>
          <p:cNvPr id="7" name="TextBox 6"/>
          <p:cNvSpPr txBox="1"/>
          <p:nvPr/>
        </p:nvSpPr>
        <p:spPr>
          <a:xfrm>
            <a:off x="4724400" y="2560320"/>
            <a:ext cx="5212080" cy="914400"/>
          </a:xfrm>
          <a:prstGeom prst="rect">
            <a:avLst/>
          </a:prstGeom>
          <a:noFill/>
        </p:spPr>
        <p:txBody>
          <a:bodyPr wrap="square">
            <a:spAutoFit/>
          </a:bodyPr>
          <a:lstStyle/>
          <a:p>
            <a:r>
              <a:rPr sz="1400" b="0"/>
              <a:t>Patent idorasi sanoat mulki ob’yektlarini ro‘yxatdan o‘tkazadi, huquqlarni belgilaydi va ularni buzilishidan rasmiy himoya choralarini ko‘radi.</a:t>
            </a:r>
          </a:p>
        </p:txBody>
      </p:sp>
      <p:sp>
        <p:nvSpPr>
          <p:cNvPr id="8" name="TextBox 7"/>
          <p:cNvSpPr txBox="1"/>
          <p:nvPr/>
        </p:nvSpPr>
        <p:spPr>
          <a:xfrm>
            <a:off x="4724400" y="3566160"/>
            <a:ext cx="5212080" cy="914400"/>
          </a:xfrm>
          <a:prstGeom prst="rect">
            <a:avLst/>
          </a:prstGeom>
          <a:noFill/>
        </p:spPr>
        <p:txBody>
          <a:bodyPr wrap="square">
            <a:spAutoFit/>
          </a:bodyPr>
          <a:lstStyle/>
          <a:p>
            <a:r>
              <a:rPr sz="1400" b="0"/>
              <a:t>Idora taqdim etilgan arizalarni ilmiy-texnik va huquqiy jihatdan o‘rganib, patent berish yoki rad etish to‘g‘risida asosli qaror qabul qiladi.</a:t>
            </a:r>
          </a:p>
        </p:txBody>
      </p:sp>
      <p:sp>
        <p:nvSpPr>
          <p:cNvPr id="9" name="TextBox 8"/>
          <p:cNvSpPr txBox="1"/>
          <p:nvPr/>
        </p:nvSpPr>
        <p:spPr>
          <a:xfrm>
            <a:off x="4724400" y="4572000"/>
            <a:ext cx="5212080" cy="914400"/>
          </a:xfrm>
          <a:prstGeom prst="rect">
            <a:avLst/>
          </a:prstGeom>
          <a:noFill/>
        </p:spPr>
        <p:txBody>
          <a:bodyPr wrap="square">
            <a:spAutoFit/>
          </a:bodyPr>
          <a:lstStyle/>
          <a:p>
            <a:r>
              <a:rPr sz="1400" b="0"/>
              <a:t>Patent idorasi sanoat mulki huquqlari buzilganda ogohlantirish, to‘xtatish va sudga murojaat qilish orqali muallif manfaatlarini himoya qiladi.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3200"/>
            </a:pPr>
            <a:r>
              <a:rPr sz="4000" b="1" dirty="0" err="1">
                <a:solidFill>
                  <a:schemeClr val="accent1">
                    <a:lumMod val="50000"/>
                  </a:schemeClr>
                </a:solidFill>
              </a:rPr>
              <a:t>Patentlash</a:t>
            </a:r>
            <a:r>
              <a:rPr sz="4000" b="1" dirty="0">
                <a:solidFill>
                  <a:schemeClr val="accent1">
                    <a:lumMod val="50000"/>
                  </a:schemeClr>
                </a:solidFill>
              </a:rPr>
              <a:t> </a:t>
            </a:r>
            <a:r>
              <a:rPr sz="4000" b="1" dirty="0" err="1">
                <a:solidFill>
                  <a:schemeClr val="accent1">
                    <a:lumMod val="50000"/>
                  </a:schemeClr>
                </a:solidFill>
              </a:rPr>
              <a:t>jarayoni</a:t>
            </a:r>
            <a:r>
              <a:rPr sz="4000" b="1" dirty="0">
                <a:solidFill>
                  <a:schemeClr val="accent1">
                    <a:lumMod val="50000"/>
                  </a:schemeClr>
                </a:solidFill>
              </a:rPr>
              <a:t> </a:t>
            </a:r>
            <a:r>
              <a:rPr sz="4000" b="1" dirty="0" err="1">
                <a:solidFill>
                  <a:schemeClr val="accent1">
                    <a:lumMod val="50000"/>
                  </a:schemeClr>
                </a:solidFill>
              </a:rPr>
              <a:t>va</a:t>
            </a:r>
            <a:r>
              <a:rPr sz="4000" b="1" dirty="0">
                <a:solidFill>
                  <a:schemeClr val="accent1">
                    <a:lumMod val="50000"/>
                  </a:schemeClr>
                </a:solidFill>
              </a:rPr>
              <a:t> </a:t>
            </a:r>
            <a:r>
              <a:rPr sz="4000" b="1" dirty="0" err="1">
                <a:solidFill>
                  <a:schemeClr val="accent1">
                    <a:lumMod val="50000"/>
                  </a:schemeClr>
                </a:solidFill>
              </a:rPr>
              <a:t>hujjatlashtirish</a:t>
            </a:r>
            <a:r>
              <a:rPr sz="4000" b="1" dirty="0">
                <a:solidFill>
                  <a:schemeClr val="accent1">
                    <a:lumMod val="50000"/>
                  </a:schemeClr>
                </a:solidFill>
              </a:rPr>
              <a:t> </a:t>
            </a:r>
            <a:r>
              <a:rPr sz="4000" b="1" dirty="0" err="1">
                <a:solidFill>
                  <a:schemeClr val="accent1">
                    <a:lumMod val="50000"/>
                  </a:schemeClr>
                </a:solidFill>
              </a:rPr>
              <a:t>talablari</a:t>
            </a:r>
            <a:endParaRPr sz="4000" b="1" dirty="0">
              <a:solidFill>
                <a:schemeClr val="accent1">
                  <a:lumMod val="50000"/>
                </a:schemeClr>
              </a:solidFill>
            </a:endParaRPr>
          </a:p>
        </p:txBody>
      </p:sp>
      <p:sp>
        <p:nvSpPr>
          <p:cNvPr id="3" name="Rounded Rectangle 2"/>
          <p:cNvSpPr/>
          <p:nvPr/>
        </p:nvSpPr>
        <p:spPr>
          <a:xfrm>
            <a:off x="1188720" y="26517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42284" y="2705324"/>
            <a:ext cx="258631" cy="258631"/>
          </a:xfrm>
          <a:prstGeom prst="rect">
            <a:avLst/>
          </a:prstGeom>
          <a:noFill/>
        </p:spPr>
        <p:txBody>
          <a:bodyPr wrap="square">
            <a:spAutoFit/>
          </a:bodyPr>
          <a:lstStyle/>
          <a:p>
            <a:r>
              <a:rPr sz="1600" b="0"/>
              <a:t>1</a:t>
            </a:r>
          </a:p>
        </p:txBody>
      </p:sp>
      <p:sp>
        <p:nvSpPr>
          <p:cNvPr id="5" name="TextBox 4"/>
          <p:cNvSpPr txBox="1"/>
          <p:nvPr/>
        </p:nvSpPr>
        <p:spPr>
          <a:xfrm>
            <a:off x="2103120" y="2354421"/>
            <a:ext cx="6400800" cy="274320"/>
          </a:xfrm>
          <a:prstGeom prst="rect">
            <a:avLst/>
          </a:prstGeom>
          <a:noFill/>
        </p:spPr>
        <p:txBody>
          <a:bodyPr wrap="square">
            <a:spAutoFit/>
          </a:bodyPr>
          <a:lstStyle/>
          <a:p>
            <a:r>
              <a:rPr sz="1800" b="1" dirty="0"/>
              <a:t>Ariza </a:t>
            </a:r>
            <a:r>
              <a:rPr sz="1800" b="1" dirty="0" err="1"/>
              <a:t>topshirish</a:t>
            </a:r>
            <a:r>
              <a:rPr sz="1800" b="1" dirty="0"/>
              <a:t> </a:t>
            </a:r>
            <a:r>
              <a:rPr sz="1800" b="1" dirty="0" err="1"/>
              <a:t>bosqichlari</a:t>
            </a:r>
            <a:endParaRPr sz="1800" b="1" dirty="0"/>
          </a:p>
        </p:txBody>
      </p:sp>
      <p:sp>
        <p:nvSpPr>
          <p:cNvPr id="6" name="TextBox 5"/>
          <p:cNvSpPr txBox="1"/>
          <p:nvPr/>
        </p:nvSpPr>
        <p:spPr>
          <a:xfrm>
            <a:off x="1940888" y="2642384"/>
            <a:ext cx="9250680" cy="646331"/>
          </a:xfrm>
          <a:prstGeom prst="rect">
            <a:avLst/>
          </a:prstGeom>
          <a:noFill/>
        </p:spPr>
        <p:txBody>
          <a:bodyPr wrap="square">
            <a:spAutoFit/>
          </a:bodyPr>
          <a:lstStyle/>
          <a:p>
            <a:r>
              <a:rPr b="0" dirty="0"/>
              <a:t>  - </a:t>
            </a:r>
            <a:r>
              <a:rPr b="0" dirty="0" err="1"/>
              <a:t>Patentlash</a:t>
            </a:r>
            <a:r>
              <a:rPr b="0" dirty="0"/>
              <a:t> </a:t>
            </a:r>
            <a:r>
              <a:rPr b="0" dirty="0" err="1"/>
              <a:t>jarayoni</a:t>
            </a:r>
            <a:r>
              <a:rPr b="0" dirty="0"/>
              <a:t> </a:t>
            </a:r>
            <a:r>
              <a:rPr b="0" dirty="0" err="1"/>
              <a:t>ariza</a:t>
            </a:r>
            <a:r>
              <a:rPr b="0" dirty="0"/>
              <a:t> </a:t>
            </a:r>
            <a:r>
              <a:rPr b="0" dirty="0" err="1"/>
              <a:t>tayyorlash</a:t>
            </a:r>
            <a:r>
              <a:rPr b="0" dirty="0"/>
              <a:t>, </a:t>
            </a:r>
            <a:r>
              <a:rPr b="0" dirty="0" err="1"/>
              <a:t>uni</a:t>
            </a:r>
            <a:r>
              <a:rPr b="0" dirty="0"/>
              <a:t> Davlat patent </a:t>
            </a:r>
            <a:r>
              <a:rPr b="0" dirty="0" err="1"/>
              <a:t>idorasiga</a:t>
            </a:r>
            <a:r>
              <a:rPr b="0" dirty="0"/>
              <a:t> </a:t>
            </a:r>
            <a:r>
              <a:rPr b="0" dirty="0" err="1"/>
              <a:t>topshirish</a:t>
            </a:r>
            <a:r>
              <a:rPr b="0" dirty="0"/>
              <a:t> </a:t>
            </a:r>
            <a:r>
              <a:rPr b="0" dirty="0" err="1"/>
              <a:t>va</a:t>
            </a:r>
            <a:r>
              <a:rPr b="0" dirty="0"/>
              <a:t> </a:t>
            </a:r>
            <a:r>
              <a:rPr b="0" dirty="0" err="1"/>
              <a:t>dastlabki</a:t>
            </a:r>
            <a:r>
              <a:rPr b="0" dirty="0"/>
              <a:t> </a:t>
            </a:r>
            <a:r>
              <a:rPr b="0" dirty="0" err="1"/>
              <a:t>tekshiruvdan</a:t>
            </a:r>
            <a:r>
              <a:rPr b="0" dirty="0"/>
              <a:t> </a:t>
            </a:r>
            <a:r>
              <a:rPr b="0" dirty="0" err="1"/>
              <a:t>o‘tishni</a:t>
            </a:r>
            <a:r>
              <a:rPr b="0" dirty="0"/>
              <a:t> </a:t>
            </a:r>
            <a:r>
              <a:rPr b="0" dirty="0" err="1"/>
              <a:t>o‘z</a:t>
            </a:r>
            <a:r>
              <a:rPr b="0" dirty="0"/>
              <a:t> </a:t>
            </a:r>
            <a:r>
              <a:rPr b="0" dirty="0" err="1"/>
              <a:t>ichiga</a:t>
            </a:r>
            <a:r>
              <a:rPr b="0" dirty="0"/>
              <a:t> </a:t>
            </a:r>
            <a:r>
              <a:rPr b="0" dirty="0" err="1"/>
              <a:t>oladi</a:t>
            </a:r>
            <a:r>
              <a:rPr b="0" dirty="0"/>
              <a:t>.</a:t>
            </a:r>
          </a:p>
        </p:txBody>
      </p:sp>
      <p:sp>
        <p:nvSpPr>
          <p:cNvPr id="7" name="Rounded Rectangle 6"/>
          <p:cNvSpPr/>
          <p:nvPr/>
        </p:nvSpPr>
        <p:spPr>
          <a:xfrm>
            <a:off x="1188720" y="35661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42284" y="3619724"/>
            <a:ext cx="258631" cy="258631"/>
          </a:xfrm>
          <a:prstGeom prst="rect">
            <a:avLst/>
          </a:prstGeom>
          <a:noFill/>
        </p:spPr>
        <p:txBody>
          <a:bodyPr wrap="square">
            <a:spAutoFit/>
          </a:bodyPr>
          <a:lstStyle/>
          <a:p>
            <a:r>
              <a:rPr sz="1600" b="0"/>
              <a:t>2</a:t>
            </a:r>
          </a:p>
        </p:txBody>
      </p:sp>
      <p:sp>
        <p:nvSpPr>
          <p:cNvPr id="9" name="TextBox 8"/>
          <p:cNvSpPr txBox="1"/>
          <p:nvPr/>
        </p:nvSpPr>
        <p:spPr>
          <a:xfrm>
            <a:off x="2103120" y="3474720"/>
            <a:ext cx="6400800" cy="274320"/>
          </a:xfrm>
          <a:prstGeom prst="rect">
            <a:avLst/>
          </a:prstGeom>
          <a:noFill/>
        </p:spPr>
        <p:txBody>
          <a:bodyPr wrap="square">
            <a:spAutoFit/>
          </a:bodyPr>
          <a:lstStyle/>
          <a:p>
            <a:r>
              <a:rPr sz="1800" b="1"/>
              <a:t>Hujjatlar talablari</a:t>
            </a:r>
          </a:p>
        </p:txBody>
      </p:sp>
      <p:sp>
        <p:nvSpPr>
          <p:cNvPr id="10" name="TextBox 9"/>
          <p:cNvSpPr txBox="1"/>
          <p:nvPr/>
        </p:nvSpPr>
        <p:spPr>
          <a:xfrm>
            <a:off x="2103120" y="3749040"/>
            <a:ext cx="9250680" cy="646331"/>
          </a:xfrm>
          <a:prstGeom prst="rect">
            <a:avLst/>
          </a:prstGeom>
          <a:noFill/>
        </p:spPr>
        <p:txBody>
          <a:bodyPr wrap="square">
            <a:spAutoFit/>
          </a:bodyPr>
          <a:lstStyle/>
          <a:p>
            <a:r>
              <a:rPr sz="1400" b="0" dirty="0"/>
              <a:t>  </a:t>
            </a:r>
            <a:r>
              <a:rPr b="0" dirty="0"/>
              <a:t>- Patent </a:t>
            </a:r>
            <a:r>
              <a:rPr b="0" dirty="0" err="1"/>
              <a:t>olish</a:t>
            </a:r>
            <a:r>
              <a:rPr b="0" dirty="0"/>
              <a:t> </a:t>
            </a:r>
            <a:r>
              <a:rPr b="0" dirty="0" err="1"/>
              <a:t>uchun</a:t>
            </a:r>
            <a:r>
              <a:rPr b="0" dirty="0"/>
              <a:t> </a:t>
            </a:r>
            <a:r>
              <a:rPr b="0" dirty="0" err="1"/>
              <a:t>texnik</a:t>
            </a:r>
            <a:r>
              <a:rPr b="0" dirty="0"/>
              <a:t> </a:t>
            </a:r>
            <a:r>
              <a:rPr b="0" dirty="0" err="1"/>
              <a:t>tavsif</a:t>
            </a:r>
            <a:r>
              <a:rPr b="0" dirty="0"/>
              <a:t>, </a:t>
            </a:r>
            <a:r>
              <a:rPr b="0" dirty="0" err="1"/>
              <a:t>chizmalar</a:t>
            </a:r>
            <a:r>
              <a:rPr b="0" dirty="0"/>
              <a:t> </a:t>
            </a:r>
            <a:r>
              <a:rPr b="0" dirty="0" err="1"/>
              <a:t>va</a:t>
            </a:r>
            <a:r>
              <a:rPr b="0" dirty="0"/>
              <a:t> </a:t>
            </a:r>
            <a:r>
              <a:rPr b="0" dirty="0" err="1"/>
              <a:t>muallif</a:t>
            </a:r>
            <a:r>
              <a:rPr b="0" dirty="0"/>
              <a:t> </a:t>
            </a:r>
            <a:r>
              <a:rPr b="0" dirty="0" err="1"/>
              <a:t>ma’lumotlari</a:t>
            </a:r>
            <a:r>
              <a:rPr b="0" dirty="0"/>
              <a:t> </a:t>
            </a:r>
            <a:r>
              <a:rPr b="0" dirty="0" err="1"/>
              <a:t>aniq</a:t>
            </a:r>
            <a:r>
              <a:rPr b="0" dirty="0"/>
              <a:t> </a:t>
            </a:r>
            <a:r>
              <a:rPr b="0" dirty="0" err="1"/>
              <a:t>va</a:t>
            </a:r>
            <a:r>
              <a:rPr b="0" dirty="0"/>
              <a:t> </a:t>
            </a:r>
            <a:r>
              <a:rPr b="0" dirty="0" err="1"/>
              <a:t>to‘liq</a:t>
            </a:r>
            <a:r>
              <a:rPr b="0" dirty="0"/>
              <a:t> </a:t>
            </a:r>
            <a:r>
              <a:rPr b="0" dirty="0" err="1"/>
              <a:t>shaklda</a:t>
            </a:r>
            <a:r>
              <a:rPr b="0" dirty="0"/>
              <a:t> </a:t>
            </a:r>
            <a:r>
              <a:rPr b="0" dirty="0" err="1"/>
              <a:t>hujjatlashtirilishi</a:t>
            </a:r>
            <a:r>
              <a:rPr b="0" dirty="0"/>
              <a:t> </a:t>
            </a:r>
            <a:r>
              <a:rPr b="0" dirty="0" err="1"/>
              <a:t>zarur</a:t>
            </a:r>
            <a:r>
              <a:rPr b="0" dirty="0"/>
              <a:t>.</a:t>
            </a:r>
            <a:endParaRPr sz="1400" b="0" dirty="0"/>
          </a:p>
        </p:txBody>
      </p:sp>
      <p:sp>
        <p:nvSpPr>
          <p:cNvPr id="11" name="Rounded Rectangle 10"/>
          <p:cNvSpPr/>
          <p:nvPr/>
        </p:nvSpPr>
        <p:spPr>
          <a:xfrm>
            <a:off x="1188720" y="44805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42284" y="4534124"/>
            <a:ext cx="258631" cy="258631"/>
          </a:xfrm>
          <a:prstGeom prst="rect">
            <a:avLst/>
          </a:prstGeom>
          <a:noFill/>
        </p:spPr>
        <p:txBody>
          <a:bodyPr wrap="square">
            <a:spAutoFit/>
          </a:bodyPr>
          <a:lstStyle/>
          <a:p>
            <a:r>
              <a:rPr sz="1600" b="0" dirty="0"/>
              <a:t>3</a:t>
            </a:r>
          </a:p>
        </p:txBody>
      </p:sp>
      <p:sp>
        <p:nvSpPr>
          <p:cNvPr id="13" name="TextBox 12"/>
          <p:cNvSpPr txBox="1"/>
          <p:nvPr/>
        </p:nvSpPr>
        <p:spPr>
          <a:xfrm>
            <a:off x="2103120" y="4389120"/>
            <a:ext cx="6400800" cy="274320"/>
          </a:xfrm>
          <a:prstGeom prst="rect">
            <a:avLst/>
          </a:prstGeom>
          <a:noFill/>
        </p:spPr>
        <p:txBody>
          <a:bodyPr wrap="square">
            <a:spAutoFit/>
          </a:bodyPr>
          <a:lstStyle/>
          <a:p>
            <a:r>
              <a:rPr sz="1800" b="1"/>
              <a:t>Ekspertiza va natija</a:t>
            </a:r>
          </a:p>
        </p:txBody>
      </p:sp>
      <p:sp>
        <p:nvSpPr>
          <p:cNvPr id="14" name="TextBox 13"/>
          <p:cNvSpPr txBox="1"/>
          <p:nvPr/>
        </p:nvSpPr>
        <p:spPr>
          <a:xfrm>
            <a:off x="2103120" y="4663440"/>
            <a:ext cx="9250680" cy="646331"/>
          </a:xfrm>
          <a:prstGeom prst="rect">
            <a:avLst/>
          </a:prstGeom>
          <a:noFill/>
        </p:spPr>
        <p:txBody>
          <a:bodyPr wrap="square">
            <a:spAutoFit/>
          </a:bodyPr>
          <a:lstStyle/>
          <a:p>
            <a:r>
              <a:rPr sz="1400" b="0" dirty="0"/>
              <a:t>  </a:t>
            </a:r>
            <a:r>
              <a:rPr b="0" dirty="0"/>
              <a:t>- </a:t>
            </a:r>
            <a:r>
              <a:rPr b="0" dirty="0" err="1"/>
              <a:t>Mutaxassislar</a:t>
            </a:r>
            <a:r>
              <a:rPr b="0" dirty="0"/>
              <a:t> </a:t>
            </a:r>
            <a:r>
              <a:rPr b="0" dirty="0" err="1"/>
              <a:t>arizani</a:t>
            </a:r>
            <a:r>
              <a:rPr b="0" dirty="0"/>
              <a:t> </a:t>
            </a:r>
            <a:r>
              <a:rPr b="0" dirty="0" err="1"/>
              <a:t>ekspertizadan</a:t>
            </a:r>
            <a:r>
              <a:rPr b="0" dirty="0"/>
              <a:t> </a:t>
            </a:r>
            <a:r>
              <a:rPr b="0" dirty="0" err="1"/>
              <a:t>o‘tkazadi</a:t>
            </a:r>
            <a:r>
              <a:rPr b="0" dirty="0"/>
              <a:t>, </a:t>
            </a:r>
            <a:r>
              <a:rPr b="0" dirty="0" err="1"/>
              <a:t>yangilik</a:t>
            </a:r>
            <a:r>
              <a:rPr b="0" dirty="0"/>
              <a:t> </a:t>
            </a:r>
            <a:r>
              <a:rPr b="0" dirty="0" err="1"/>
              <a:t>va</a:t>
            </a:r>
            <a:r>
              <a:rPr b="0" dirty="0"/>
              <a:t> </a:t>
            </a:r>
            <a:r>
              <a:rPr b="0" dirty="0" err="1"/>
              <a:t>foydalilik</a:t>
            </a:r>
            <a:r>
              <a:rPr b="0" dirty="0"/>
              <a:t> </a:t>
            </a:r>
            <a:r>
              <a:rPr b="0" dirty="0" err="1"/>
              <a:t>tekshiriladi</a:t>
            </a:r>
            <a:r>
              <a:rPr b="0" dirty="0"/>
              <a:t>, </a:t>
            </a:r>
            <a:r>
              <a:rPr b="0" dirty="0" err="1"/>
              <a:t>natijada</a:t>
            </a:r>
            <a:r>
              <a:rPr b="0" dirty="0"/>
              <a:t> patent </a:t>
            </a:r>
            <a:r>
              <a:rPr b="0" dirty="0" err="1"/>
              <a:t>berish</a:t>
            </a:r>
            <a:r>
              <a:rPr b="0" dirty="0"/>
              <a:t> </a:t>
            </a:r>
            <a:r>
              <a:rPr b="0" dirty="0" err="1"/>
              <a:t>yoki</a:t>
            </a:r>
            <a:r>
              <a:rPr b="0" dirty="0"/>
              <a:t> rad </a:t>
            </a:r>
            <a:r>
              <a:rPr b="0" dirty="0" err="1"/>
              <a:t>etish</a:t>
            </a:r>
            <a:r>
              <a:rPr b="0" dirty="0"/>
              <a:t> </a:t>
            </a:r>
            <a:r>
              <a:rPr b="0" dirty="0" err="1"/>
              <a:t>to‘g‘risida</a:t>
            </a:r>
            <a:r>
              <a:rPr b="0" dirty="0"/>
              <a:t> </a:t>
            </a:r>
            <a:r>
              <a:rPr b="0" dirty="0" err="1"/>
              <a:t>qaror</a:t>
            </a:r>
            <a:r>
              <a:rPr b="0" dirty="0"/>
              <a:t> </a:t>
            </a:r>
            <a:r>
              <a:rPr b="0" dirty="0" err="1"/>
              <a:t>chiqariladi</a:t>
            </a:r>
            <a:r>
              <a:rPr b="0" dirty="0"/>
              <a:t>.</a:t>
            </a:r>
            <a:endParaRPr sz="1400" b="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2400"/>
            </a:pPr>
            <a:r>
              <a:rPr sz="4000" b="1" dirty="0" err="1">
                <a:solidFill>
                  <a:schemeClr val="accent4">
                    <a:lumMod val="50000"/>
                  </a:schemeClr>
                </a:solidFill>
              </a:rPr>
              <a:t>Sanoat</a:t>
            </a:r>
            <a:r>
              <a:rPr sz="4000" b="1" dirty="0">
                <a:solidFill>
                  <a:schemeClr val="accent4">
                    <a:lumMod val="50000"/>
                  </a:schemeClr>
                </a:solidFill>
              </a:rPr>
              <a:t> </a:t>
            </a:r>
            <a:r>
              <a:rPr sz="4000" b="1" dirty="0" err="1">
                <a:solidFill>
                  <a:schemeClr val="accent4">
                    <a:lumMod val="50000"/>
                  </a:schemeClr>
                </a:solidFill>
              </a:rPr>
              <a:t>mulki</a:t>
            </a:r>
            <a:r>
              <a:rPr sz="4000" b="1" dirty="0">
                <a:solidFill>
                  <a:schemeClr val="accent4">
                    <a:lumMod val="50000"/>
                  </a:schemeClr>
                </a:solidFill>
              </a:rPr>
              <a:t> </a:t>
            </a:r>
            <a:r>
              <a:rPr sz="4000" b="1" dirty="0" err="1">
                <a:solidFill>
                  <a:schemeClr val="accent4">
                    <a:lumMod val="50000"/>
                  </a:schemeClr>
                </a:solidFill>
              </a:rPr>
              <a:t>ob’ektlarini</a:t>
            </a:r>
            <a:r>
              <a:rPr sz="4000" b="1" dirty="0">
                <a:solidFill>
                  <a:schemeClr val="accent4">
                    <a:lumMod val="50000"/>
                  </a:schemeClr>
                </a:solidFill>
              </a:rPr>
              <a:t> </a:t>
            </a:r>
            <a:r>
              <a:rPr sz="4000" b="1" dirty="0" err="1">
                <a:solidFill>
                  <a:schemeClr val="accent4">
                    <a:lumMod val="50000"/>
                  </a:schemeClr>
                </a:solidFill>
              </a:rPr>
              <a:t>huquqiy</a:t>
            </a:r>
            <a:r>
              <a:rPr sz="4000" b="1" dirty="0">
                <a:solidFill>
                  <a:schemeClr val="accent4">
                    <a:lumMod val="50000"/>
                  </a:schemeClr>
                </a:solidFill>
              </a:rPr>
              <a:t> </a:t>
            </a:r>
            <a:r>
              <a:rPr sz="4000" b="1" dirty="0" err="1">
                <a:solidFill>
                  <a:schemeClr val="accent4">
                    <a:lumMod val="50000"/>
                  </a:schemeClr>
                </a:solidFill>
              </a:rPr>
              <a:t>himoya</a:t>
            </a:r>
            <a:r>
              <a:rPr sz="4000" b="1" dirty="0">
                <a:solidFill>
                  <a:schemeClr val="accent4">
                    <a:lumMod val="50000"/>
                  </a:schemeClr>
                </a:solidFill>
              </a:rPr>
              <a:t> </a:t>
            </a:r>
            <a:r>
              <a:rPr sz="4000" b="1" dirty="0" err="1">
                <a:solidFill>
                  <a:schemeClr val="accent4">
                    <a:lumMod val="50000"/>
                  </a:schemeClr>
                </a:solidFill>
              </a:rPr>
              <a:t>qilishning</a:t>
            </a:r>
            <a:r>
              <a:rPr sz="4000" b="1" dirty="0">
                <a:solidFill>
                  <a:schemeClr val="accent4">
                    <a:lumMod val="50000"/>
                  </a:schemeClr>
                </a:solidFill>
              </a:rPr>
              <a:t> </a:t>
            </a:r>
            <a:r>
              <a:rPr sz="4000" b="1" dirty="0" err="1">
                <a:solidFill>
                  <a:schemeClr val="accent4">
                    <a:lumMod val="50000"/>
                  </a:schemeClr>
                </a:solidFill>
              </a:rPr>
              <a:t>asosiy</a:t>
            </a:r>
            <a:r>
              <a:rPr sz="4000" b="1" dirty="0">
                <a:solidFill>
                  <a:schemeClr val="accent4">
                    <a:lumMod val="50000"/>
                  </a:schemeClr>
                </a:solidFill>
              </a:rPr>
              <a:t> </a:t>
            </a:r>
            <a:r>
              <a:rPr sz="4000" b="1" dirty="0" err="1">
                <a:solidFill>
                  <a:schemeClr val="accent4">
                    <a:lumMod val="50000"/>
                  </a:schemeClr>
                </a:solidFill>
              </a:rPr>
              <a:t>tamoyillari</a:t>
            </a:r>
            <a:endParaRPr sz="4000" b="1" dirty="0">
              <a:solidFill>
                <a:schemeClr val="accent4">
                  <a:lumMod val="50000"/>
                </a:schemeClr>
              </a:solidFill>
            </a:endParaRPr>
          </a:p>
        </p:txBody>
      </p:sp>
      <p:sp>
        <p:nvSpPr>
          <p:cNvPr id="3" name="Rounded Rectangle 2"/>
          <p:cNvSpPr/>
          <p:nvPr/>
        </p:nvSpPr>
        <p:spPr>
          <a:xfrm>
            <a:off x="1203960" y="256032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64219" y="2620579"/>
            <a:ext cx="290960" cy="290960"/>
          </a:xfrm>
          <a:prstGeom prst="rect">
            <a:avLst/>
          </a:prstGeom>
          <a:noFill/>
        </p:spPr>
        <p:txBody>
          <a:bodyPr wrap="square">
            <a:spAutoFit/>
          </a:bodyPr>
          <a:lstStyle/>
          <a:p>
            <a:r>
              <a:rPr sz="1600" b="0"/>
              <a:t>1</a:t>
            </a:r>
          </a:p>
        </p:txBody>
      </p:sp>
      <p:sp>
        <p:nvSpPr>
          <p:cNvPr id="5" name="TextBox 4"/>
          <p:cNvSpPr txBox="1"/>
          <p:nvPr/>
        </p:nvSpPr>
        <p:spPr>
          <a:xfrm>
            <a:off x="1478280" y="2468880"/>
            <a:ext cx="4572000" cy="1645920"/>
          </a:xfrm>
          <a:prstGeom prst="rect">
            <a:avLst/>
          </a:prstGeom>
          <a:noFill/>
        </p:spPr>
        <p:txBody>
          <a:bodyPr wrap="none">
            <a:spAutoFit/>
          </a:bodyPr>
          <a:lstStyle/>
          <a:p>
            <a:endParaRPr/>
          </a:p>
        </p:txBody>
      </p:sp>
      <p:sp>
        <p:nvSpPr>
          <p:cNvPr id="6" name="TextBox 5"/>
          <p:cNvSpPr txBox="1"/>
          <p:nvPr/>
        </p:nvSpPr>
        <p:spPr>
          <a:xfrm>
            <a:off x="1661160" y="2651760"/>
            <a:ext cx="4206240" cy="274320"/>
          </a:xfrm>
          <a:prstGeom prst="rect">
            <a:avLst/>
          </a:prstGeom>
          <a:noFill/>
        </p:spPr>
        <p:txBody>
          <a:bodyPr wrap="square">
            <a:spAutoFit/>
          </a:bodyPr>
          <a:lstStyle/>
          <a:p>
            <a:r>
              <a:rPr sz="1600" b="1"/>
              <a:t>Huquqiy aniqlik</a:t>
            </a:r>
          </a:p>
        </p:txBody>
      </p:sp>
      <p:sp>
        <p:nvSpPr>
          <p:cNvPr id="7" name="TextBox 6"/>
          <p:cNvSpPr txBox="1"/>
          <p:nvPr/>
        </p:nvSpPr>
        <p:spPr>
          <a:xfrm>
            <a:off x="1661160" y="2926080"/>
            <a:ext cx="4206240" cy="1005840"/>
          </a:xfrm>
          <a:prstGeom prst="rect">
            <a:avLst/>
          </a:prstGeom>
          <a:noFill/>
        </p:spPr>
        <p:txBody>
          <a:bodyPr wrap="square">
            <a:spAutoFit/>
          </a:bodyPr>
          <a:lstStyle/>
          <a:p>
            <a:r>
              <a:rPr sz="1400" b="0"/>
              <a:t>Sanoat mulki ob’yektlarini himoya qilishda huquqiy normalarning aniq va tushunarli bo‘lishi, muallif va foydalanuvchi huquqlarini belgilaydi.</a:t>
            </a:r>
          </a:p>
        </p:txBody>
      </p:sp>
      <p:sp>
        <p:nvSpPr>
          <p:cNvPr id="8" name="Rounded Rectangle 7"/>
          <p:cNvSpPr/>
          <p:nvPr/>
        </p:nvSpPr>
        <p:spPr>
          <a:xfrm>
            <a:off x="5867400" y="256032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27659" y="2620579"/>
            <a:ext cx="290960" cy="290960"/>
          </a:xfrm>
          <a:prstGeom prst="rect">
            <a:avLst/>
          </a:prstGeom>
          <a:noFill/>
        </p:spPr>
        <p:txBody>
          <a:bodyPr wrap="square">
            <a:spAutoFit/>
          </a:bodyPr>
          <a:lstStyle/>
          <a:p>
            <a:r>
              <a:rPr sz="1600" b="0"/>
              <a:t>2</a:t>
            </a:r>
          </a:p>
        </p:txBody>
      </p:sp>
      <p:sp>
        <p:nvSpPr>
          <p:cNvPr id="10" name="TextBox 9"/>
          <p:cNvSpPr txBox="1"/>
          <p:nvPr/>
        </p:nvSpPr>
        <p:spPr>
          <a:xfrm>
            <a:off x="6141720" y="2468880"/>
            <a:ext cx="4572000" cy="1645920"/>
          </a:xfrm>
          <a:prstGeom prst="rect">
            <a:avLst/>
          </a:prstGeom>
          <a:noFill/>
        </p:spPr>
        <p:txBody>
          <a:bodyPr wrap="none">
            <a:spAutoFit/>
          </a:bodyPr>
          <a:lstStyle/>
          <a:p>
            <a:endParaRPr/>
          </a:p>
        </p:txBody>
      </p:sp>
      <p:sp>
        <p:nvSpPr>
          <p:cNvPr id="11" name="TextBox 10"/>
          <p:cNvSpPr txBox="1"/>
          <p:nvPr/>
        </p:nvSpPr>
        <p:spPr>
          <a:xfrm>
            <a:off x="6324600" y="2651760"/>
            <a:ext cx="4206240" cy="274320"/>
          </a:xfrm>
          <a:prstGeom prst="rect">
            <a:avLst/>
          </a:prstGeom>
          <a:noFill/>
        </p:spPr>
        <p:txBody>
          <a:bodyPr wrap="square">
            <a:spAutoFit/>
          </a:bodyPr>
          <a:lstStyle/>
          <a:p>
            <a:r>
              <a:rPr sz="1600" b="1"/>
              <a:t>Eksklyuzivlik</a:t>
            </a:r>
          </a:p>
        </p:txBody>
      </p:sp>
      <p:sp>
        <p:nvSpPr>
          <p:cNvPr id="12" name="TextBox 11"/>
          <p:cNvSpPr txBox="1"/>
          <p:nvPr/>
        </p:nvSpPr>
        <p:spPr>
          <a:xfrm>
            <a:off x="6324600" y="2926080"/>
            <a:ext cx="4206240" cy="1005840"/>
          </a:xfrm>
          <a:prstGeom prst="rect">
            <a:avLst/>
          </a:prstGeom>
          <a:noFill/>
        </p:spPr>
        <p:txBody>
          <a:bodyPr wrap="square">
            <a:spAutoFit/>
          </a:bodyPr>
          <a:lstStyle/>
          <a:p>
            <a:r>
              <a:rPr sz="1400" b="0"/>
              <a:t>Patent yoki boshqa huquqiy hujjatlar orqali muallifga o‘z ixtirosi ustidan eksklyuziv huquqlar taqdim etiladi, bu esa raqobatbardoshlikni oshiradi.</a:t>
            </a:r>
          </a:p>
        </p:txBody>
      </p:sp>
      <p:sp>
        <p:nvSpPr>
          <p:cNvPr id="13" name="Rounded Rectangle 12"/>
          <p:cNvSpPr/>
          <p:nvPr/>
        </p:nvSpPr>
        <p:spPr>
          <a:xfrm>
            <a:off x="1203960" y="429768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64219" y="4357939"/>
            <a:ext cx="290960" cy="290960"/>
          </a:xfrm>
          <a:prstGeom prst="rect">
            <a:avLst/>
          </a:prstGeom>
          <a:noFill/>
        </p:spPr>
        <p:txBody>
          <a:bodyPr wrap="square">
            <a:spAutoFit/>
          </a:bodyPr>
          <a:lstStyle/>
          <a:p>
            <a:r>
              <a:rPr sz="1600" b="0"/>
              <a:t>3</a:t>
            </a:r>
          </a:p>
        </p:txBody>
      </p:sp>
      <p:sp>
        <p:nvSpPr>
          <p:cNvPr id="15" name="TextBox 14"/>
          <p:cNvSpPr txBox="1"/>
          <p:nvPr/>
        </p:nvSpPr>
        <p:spPr>
          <a:xfrm>
            <a:off x="1478280" y="4206240"/>
            <a:ext cx="4572000" cy="1645920"/>
          </a:xfrm>
          <a:prstGeom prst="rect">
            <a:avLst/>
          </a:prstGeom>
          <a:noFill/>
        </p:spPr>
        <p:txBody>
          <a:bodyPr wrap="none">
            <a:spAutoFit/>
          </a:bodyPr>
          <a:lstStyle/>
          <a:p>
            <a:endParaRPr/>
          </a:p>
        </p:txBody>
      </p:sp>
      <p:sp>
        <p:nvSpPr>
          <p:cNvPr id="16" name="TextBox 15"/>
          <p:cNvSpPr txBox="1"/>
          <p:nvPr/>
        </p:nvSpPr>
        <p:spPr>
          <a:xfrm>
            <a:off x="1661160" y="4389120"/>
            <a:ext cx="4206240" cy="274320"/>
          </a:xfrm>
          <a:prstGeom prst="rect">
            <a:avLst/>
          </a:prstGeom>
          <a:noFill/>
        </p:spPr>
        <p:txBody>
          <a:bodyPr wrap="square">
            <a:spAutoFit/>
          </a:bodyPr>
          <a:lstStyle/>
          <a:p>
            <a:r>
              <a:rPr sz="1600" b="1"/>
              <a:t>Ochiqlik va oshkoralik</a:t>
            </a:r>
          </a:p>
        </p:txBody>
      </p:sp>
      <p:sp>
        <p:nvSpPr>
          <p:cNvPr id="17" name="TextBox 16"/>
          <p:cNvSpPr txBox="1"/>
          <p:nvPr/>
        </p:nvSpPr>
        <p:spPr>
          <a:xfrm>
            <a:off x="1661160" y="4663440"/>
            <a:ext cx="4206240" cy="1005840"/>
          </a:xfrm>
          <a:prstGeom prst="rect">
            <a:avLst/>
          </a:prstGeom>
          <a:noFill/>
        </p:spPr>
        <p:txBody>
          <a:bodyPr wrap="square">
            <a:spAutoFit/>
          </a:bodyPr>
          <a:lstStyle/>
          <a:p>
            <a:r>
              <a:rPr sz="1400" b="0"/>
              <a:t>Patentlash jarayonida ixtirolar haqida axborot ochiq bo‘lishi, innovatsiyalarni rivojlantirish va jamiyat manfaatiga xizmat qilishga yordam beradi.</a:t>
            </a:r>
          </a:p>
        </p:txBody>
      </p:sp>
      <p:sp>
        <p:nvSpPr>
          <p:cNvPr id="18" name="Rounded Rectangle 17"/>
          <p:cNvSpPr/>
          <p:nvPr/>
        </p:nvSpPr>
        <p:spPr>
          <a:xfrm>
            <a:off x="5867400" y="429768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27659" y="4357939"/>
            <a:ext cx="290960" cy="290960"/>
          </a:xfrm>
          <a:prstGeom prst="rect">
            <a:avLst/>
          </a:prstGeom>
          <a:noFill/>
        </p:spPr>
        <p:txBody>
          <a:bodyPr wrap="square">
            <a:spAutoFit/>
          </a:bodyPr>
          <a:lstStyle/>
          <a:p>
            <a:r>
              <a:rPr sz="1600" b="0"/>
              <a:t>4</a:t>
            </a:r>
          </a:p>
        </p:txBody>
      </p:sp>
      <p:sp>
        <p:nvSpPr>
          <p:cNvPr id="20" name="TextBox 19"/>
          <p:cNvSpPr txBox="1"/>
          <p:nvPr/>
        </p:nvSpPr>
        <p:spPr>
          <a:xfrm>
            <a:off x="6141720" y="4206240"/>
            <a:ext cx="4572000" cy="1645920"/>
          </a:xfrm>
          <a:prstGeom prst="rect">
            <a:avLst/>
          </a:prstGeom>
          <a:noFill/>
        </p:spPr>
        <p:txBody>
          <a:bodyPr wrap="none">
            <a:spAutoFit/>
          </a:bodyPr>
          <a:lstStyle/>
          <a:p>
            <a:endParaRPr/>
          </a:p>
        </p:txBody>
      </p:sp>
      <p:sp>
        <p:nvSpPr>
          <p:cNvPr id="21" name="TextBox 20"/>
          <p:cNvSpPr txBox="1"/>
          <p:nvPr/>
        </p:nvSpPr>
        <p:spPr>
          <a:xfrm>
            <a:off x="6324600" y="4389120"/>
            <a:ext cx="4206240" cy="274320"/>
          </a:xfrm>
          <a:prstGeom prst="rect">
            <a:avLst/>
          </a:prstGeom>
          <a:noFill/>
        </p:spPr>
        <p:txBody>
          <a:bodyPr wrap="square">
            <a:spAutoFit/>
          </a:bodyPr>
          <a:lstStyle/>
          <a:p>
            <a:r>
              <a:rPr sz="1600" b="1"/>
              <a:t>Muddatli himoya</a:t>
            </a:r>
          </a:p>
        </p:txBody>
      </p:sp>
      <p:sp>
        <p:nvSpPr>
          <p:cNvPr id="22" name="TextBox 21"/>
          <p:cNvSpPr txBox="1"/>
          <p:nvPr/>
        </p:nvSpPr>
        <p:spPr>
          <a:xfrm>
            <a:off x="6324600" y="4663440"/>
            <a:ext cx="4206240" cy="1005840"/>
          </a:xfrm>
          <a:prstGeom prst="rect">
            <a:avLst/>
          </a:prstGeom>
          <a:noFill/>
        </p:spPr>
        <p:txBody>
          <a:bodyPr wrap="square">
            <a:spAutoFit/>
          </a:bodyPr>
          <a:lstStyle/>
          <a:p>
            <a:r>
              <a:rPr sz="1400" b="0"/>
              <a:t>Sanoat mulki himoyasi belgilangan muddat bilan cheklanadi, bu vaqtda muallif o‘z huquqlaridan to‘liq foydalanishi mumkin.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2400"/>
            </a:pPr>
            <a:r>
              <a:rPr sz="4000" dirty="0" err="1">
                <a:solidFill>
                  <a:schemeClr val="accent6">
                    <a:lumMod val="50000"/>
                  </a:schemeClr>
                </a:solidFill>
              </a:rPr>
              <a:t>Sanoat</a:t>
            </a:r>
            <a:r>
              <a:rPr sz="4000" dirty="0">
                <a:solidFill>
                  <a:schemeClr val="accent6">
                    <a:lumMod val="50000"/>
                  </a:schemeClr>
                </a:solidFill>
              </a:rPr>
              <a:t> </a:t>
            </a:r>
            <a:r>
              <a:rPr sz="4000" dirty="0" err="1">
                <a:solidFill>
                  <a:schemeClr val="accent6">
                    <a:lumMod val="50000"/>
                  </a:schemeClr>
                </a:solidFill>
              </a:rPr>
              <a:t>mulki</a:t>
            </a:r>
            <a:r>
              <a:rPr sz="4000" dirty="0">
                <a:solidFill>
                  <a:schemeClr val="accent6">
                    <a:lumMod val="50000"/>
                  </a:schemeClr>
                </a:solidFill>
              </a:rPr>
              <a:t> </a:t>
            </a:r>
            <a:r>
              <a:rPr sz="4000" dirty="0" err="1">
                <a:solidFill>
                  <a:schemeClr val="accent6">
                    <a:lumMod val="50000"/>
                  </a:schemeClr>
                </a:solidFill>
              </a:rPr>
              <a:t>sub’ektining</a:t>
            </a:r>
            <a:r>
              <a:rPr sz="4000" dirty="0">
                <a:solidFill>
                  <a:schemeClr val="accent6">
                    <a:lumMod val="50000"/>
                  </a:schemeClr>
                </a:solidFill>
              </a:rPr>
              <a:t> </a:t>
            </a:r>
            <a:r>
              <a:rPr sz="4000" dirty="0" err="1">
                <a:solidFill>
                  <a:schemeClr val="accent6">
                    <a:lumMod val="50000"/>
                  </a:schemeClr>
                </a:solidFill>
              </a:rPr>
              <a:t>mualliflik</a:t>
            </a:r>
            <a:r>
              <a:rPr sz="4000" dirty="0">
                <a:solidFill>
                  <a:schemeClr val="accent6">
                    <a:lumMod val="50000"/>
                  </a:schemeClr>
                </a:solidFill>
              </a:rPr>
              <a:t> </a:t>
            </a:r>
            <a:r>
              <a:rPr sz="4000" dirty="0" err="1">
                <a:solidFill>
                  <a:schemeClr val="accent6">
                    <a:lumMod val="50000"/>
                  </a:schemeClr>
                </a:solidFill>
              </a:rPr>
              <a:t>huquqlari</a:t>
            </a:r>
            <a:r>
              <a:rPr sz="4000" dirty="0">
                <a:solidFill>
                  <a:schemeClr val="accent6">
                    <a:lumMod val="50000"/>
                  </a:schemeClr>
                </a:solidFill>
              </a:rPr>
              <a:t> </a:t>
            </a:r>
            <a:r>
              <a:rPr sz="4000" dirty="0" err="1">
                <a:solidFill>
                  <a:schemeClr val="accent6">
                    <a:lumMod val="50000"/>
                  </a:schemeClr>
                </a:solidFill>
              </a:rPr>
              <a:t>va</a:t>
            </a:r>
            <a:r>
              <a:rPr sz="4000" dirty="0">
                <a:solidFill>
                  <a:schemeClr val="accent6">
                    <a:lumMod val="50000"/>
                  </a:schemeClr>
                </a:solidFill>
              </a:rPr>
              <a:t> </a:t>
            </a:r>
            <a:r>
              <a:rPr sz="4000" dirty="0" err="1">
                <a:solidFill>
                  <a:schemeClr val="accent6">
                    <a:lumMod val="50000"/>
                  </a:schemeClr>
                </a:solidFill>
              </a:rPr>
              <a:t>ularning</a:t>
            </a:r>
            <a:r>
              <a:rPr sz="4000" dirty="0">
                <a:solidFill>
                  <a:schemeClr val="accent6">
                    <a:lumMod val="50000"/>
                  </a:schemeClr>
                </a:solidFill>
              </a:rPr>
              <a:t> </a:t>
            </a:r>
            <a:r>
              <a:rPr sz="4000" dirty="0" err="1">
                <a:solidFill>
                  <a:schemeClr val="accent6">
                    <a:lumMod val="50000"/>
                  </a:schemeClr>
                </a:solidFill>
              </a:rPr>
              <a:t>kafolatlari</a:t>
            </a:r>
            <a:endParaRPr sz="4000" dirty="0">
              <a:solidFill>
                <a:schemeClr val="accent6">
                  <a:lumMod val="50000"/>
                </a:schemeClr>
              </a:solidFill>
            </a:endParaRPr>
          </a:p>
        </p:txBody>
      </p:sp>
      <p:cxnSp>
        <p:nvCxnSpPr>
          <p:cNvPr id="3" name="Connector 2"/>
          <p:cNvCxnSpPr/>
          <p:nvPr/>
        </p:nvCxnSpPr>
        <p:spPr>
          <a:xfrm>
            <a:off x="1371600" y="2560320"/>
            <a:ext cx="0" cy="237744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28346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188720" y="26517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42284" y="2705324"/>
            <a:ext cx="258631" cy="258631"/>
          </a:xfrm>
          <a:prstGeom prst="rect">
            <a:avLst/>
          </a:prstGeom>
          <a:noFill/>
        </p:spPr>
        <p:txBody>
          <a:bodyPr wrap="square">
            <a:spAutoFit/>
          </a:bodyPr>
          <a:lstStyle/>
          <a:p>
            <a:r>
              <a:rPr sz="1600" b="0"/>
              <a:t>1</a:t>
            </a:r>
          </a:p>
        </p:txBody>
      </p:sp>
      <p:sp>
        <p:nvSpPr>
          <p:cNvPr id="7" name="TextBox 6"/>
          <p:cNvSpPr txBox="1"/>
          <p:nvPr/>
        </p:nvSpPr>
        <p:spPr>
          <a:xfrm>
            <a:off x="2103120" y="2560320"/>
            <a:ext cx="6400800" cy="274320"/>
          </a:xfrm>
          <a:prstGeom prst="rect">
            <a:avLst/>
          </a:prstGeom>
          <a:noFill/>
        </p:spPr>
        <p:txBody>
          <a:bodyPr wrap="square">
            <a:spAutoFit/>
          </a:bodyPr>
          <a:lstStyle/>
          <a:p>
            <a:r>
              <a:rPr sz="1600" b="1"/>
              <a:t>Mualliflik huquqlari</a:t>
            </a:r>
          </a:p>
        </p:txBody>
      </p:sp>
      <p:sp>
        <p:nvSpPr>
          <p:cNvPr id="8" name="TextBox 7"/>
          <p:cNvSpPr txBox="1"/>
          <p:nvPr/>
        </p:nvSpPr>
        <p:spPr>
          <a:xfrm>
            <a:off x="2103120" y="2834640"/>
            <a:ext cx="6400800" cy="914400"/>
          </a:xfrm>
          <a:prstGeom prst="rect">
            <a:avLst/>
          </a:prstGeom>
          <a:noFill/>
        </p:spPr>
        <p:txBody>
          <a:bodyPr wrap="square">
            <a:spAutoFit/>
          </a:bodyPr>
          <a:lstStyle/>
          <a:p>
            <a:r>
              <a:rPr sz="1400" b="0"/>
              <a:t>Sanoat mulki sub’ekti o‘zining yaratuvchilik faoliyati natijasida mualliflik huquqlariga ega bo‘ladi va bu huquqlar qonun bilan himoyalanadi.</a:t>
            </a:r>
          </a:p>
        </p:txBody>
      </p:sp>
      <p:cxnSp>
        <p:nvCxnSpPr>
          <p:cNvPr id="9" name="Connector 8"/>
          <p:cNvCxnSpPr/>
          <p:nvPr/>
        </p:nvCxnSpPr>
        <p:spPr>
          <a:xfrm>
            <a:off x="1371600" y="37490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188720" y="35661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42284" y="3619724"/>
            <a:ext cx="258631" cy="258631"/>
          </a:xfrm>
          <a:prstGeom prst="rect">
            <a:avLst/>
          </a:prstGeom>
          <a:noFill/>
        </p:spPr>
        <p:txBody>
          <a:bodyPr wrap="square">
            <a:spAutoFit/>
          </a:bodyPr>
          <a:lstStyle/>
          <a:p>
            <a:r>
              <a:rPr sz="1600" b="0"/>
              <a:t>2</a:t>
            </a:r>
          </a:p>
        </p:txBody>
      </p:sp>
      <p:sp>
        <p:nvSpPr>
          <p:cNvPr id="12" name="TextBox 11"/>
          <p:cNvSpPr txBox="1"/>
          <p:nvPr/>
        </p:nvSpPr>
        <p:spPr>
          <a:xfrm>
            <a:off x="2103120" y="3474720"/>
            <a:ext cx="6400800" cy="274320"/>
          </a:xfrm>
          <a:prstGeom prst="rect">
            <a:avLst/>
          </a:prstGeom>
          <a:noFill/>
        </p:spPr>
        <p:txBody>
          <a:bodyPr wrap="square">
            <a:spAutoFit/>
          </a:bodyPr>
          <a:lstStyle/>
          <a:p>
            <a:r>
              <a:rPr sz="1600" b="1"/>
              <a:t>Huquqiy kafolatlar</a:t>
            </a:r>
          </a:p>
        </p:txBody>
      </p:sp>
      <p:sp>
        <p:nvSpPr>
          <p:cNvPr id="13" name="TextBox 12"/>
          <p:cNvSpPr txBox="1"/>
          <p:nvPr/>
        </p:nvSpPr>
        <p:spPr>
          <a:xfrm>
            <a:off x="2103120" y="3749040"/>
            <a:ext cx="6400800" cy="914400"/>
          </a:xfrm>
          <a:prstGeom prst="rect">
            <a:avLst/>
          </a:prstGeom>
          <a:noFill/>
        </p:spPr>
        <p:txBody>
          <a:bodyPr wrap="square">
            <a:spAutoFit/>
          </a:bodyPr>
          <a:lstStyle/>
          <a:p>
            <a:r>
              <a:rPr sz="1400" b="0"/>
              <a:t>Mualliflik huquqlari buzilgan taqdirda, davlat patent idorasi va sud organlari tomonidan huquqiy himoya va kafolatlar ta’minlanadi.</a:t>
            </a:r>
          </a:p>
        </p:txBody>
      </p:sp>
      <p:cxnSp>
        <p:nvCxnSpPr>
          <p:cNvPr id="14" name="Connector 13"/>
          <p:cNvCxnSpPr/>
          <p:nvPr/>
        </p:nvCxnSpPr>
        <p:spPr>
          <a:xfrm>
            <a:off x="1371600" y="46634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188720" y="44805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42284" y="4534124"/>
            <a:ext cx="258631" cy="258631"/>
          </a:xfrm>
          <a:prstGeom prst="rect">
            <a:avLst/>
          </a:prstGeom>
          <a:noFill/>
        </p:spPr>
        <p:txBody>
          <a:bodyPr wrap="square">
            <a:spAutoFit/>
          </a:bodyPr>
          <a:lstStyle/>
          <a:p>
            <a:r>
              <a:rPr sz="1600" b="0"/>
              <a:t>3</a:t>
            </a:r>
          </a:p>
        </p:txBody>
      </p:sp>
      <p:sp>
        <p:nvSpPr>
          <p:cNvPr id="17" name="TextBox 16"/>
          <p:cNvSpPr txBox="1"/>
          <p:nvPr/>
        </p:nvSpPr>
        <p:spPr>
          <a:xfrm>
            <a:off x="2103120" y="4389120"/>
            <a:ext cx="6400800" cy="274320"/>
          </a:xfrm>
          <a:prstGeom prst="rect">
            <a:avLst/>
          </a:prstGeom>
          <a:noFill/>
        </p:spPr>
        <p:txBody>
          <a:bodyPr wrap="square">
            <a:spAutoFit/>
          </a:bodyPr>
          <a:lstStyle/>
          <a:p>
            <a:r>
              <a:rPr sz="1600" b="1"/>
              <a:t>Moliyaviy manfaatlar</a:t>
            </a:r>
          </a:p>
        </p:txBody>
      </p:sp>
      <p:sp>
        <p:nvSpPr>
          <p:cNvPr id="18" name="TextBox 17"/>
          <p:cNvSpPr txBox="1"/>
          <p:nvPr/>
        </p:nvSpPr>
        <p:spPr>
          <a:xfrm>
            <a:off x="2103120" y="4663440"/>
            <a:ext cx="6400800" cy="914400"/>
          </a:xfrm>
          <a:prstGeom prst="rect">
            <a:avLst/>
          </a:prstGeom>
          <a:noFill/>
        </p:spPr>
        <p:txBody>
          <a:bodyPr wrap="square">
            <a:spAutoFit/>
          </a:bodyPr>
          <a:lstStyle/>
          <a:p>
            <a:r>
              <a:rPr sz="1400" b="0"/>
              <a:t>Muallif o‘z ixtirosi yoki sanoat namunasi uchun royalti va boshqa moliyaviy mukofotlarni olish huquqiga ega bo‘ladi.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2800"/>
            </a:pPr>
            <a:r>
              <a:rPr sz="4000" b="1" dirty="0" err="1"/>
              <a:t>Sanoat</a:t>
            </a:r>
            <a:r>
              <a:rPr sz="4000" b="1" dirty="0"/>
              <a:t> </a:t>
            </a:r>
            <a:r>
              <a:rPr sz="4000" b="1" dirty="0" err="1"/>
              <a:t>mulkiga</a:t>
            </a:r>
            <a:r>
              <a:rPr sz="4000" b="1" dirty="0"/>
              <a:t> </a:t>
            </a:r>
            <a:r>
              <a:rPr sz="4000" b="1" dirty="0" err="1"/>
              <a:t>oid</a:t>
            </a:r>
            <a:r>
              <a:rPr sz="4000" b="1" dirty="0"/>
              <a:t> </a:t>
            </a:r>
            <a:r>
              <a:rPr sz="4000" b="1" dirty="0" err="1"/>
              <a:t>nizolar</a:t>
            </a:r>
            <a:r>
              <a:rPr sz="4000" b="1" dirty="0"/>
              <a:t> </a:t>
            </a:r>
            <a:r>
              <a:rPr sz="4000" b="1" dirty="0" err="1"/>
              <a:t>va</a:t>
            </a:r>
            <a:r>
              <a:rPr sz="4000" b="1" dirty="0"/>
              <a:t> </a:t>
            </a:r>
            <a:r>
              <a:rPr sz="4000" b="1" dirty="0" err="1"/>
              <a:t>ularni</a:t>
            </a:r>
            <a:r>
              <a:rPr sz="4000" b="1" dirty="0"/>
              <a:t> </a:t>
            </a:r>
            <a:r>
              <a:rPr sz="4000" b="1" dirty="0" err="1"/>
              <a:t>hal</a:t>
            </a:r>
            <a:r>
              <a:rPr sz="4000" b="1" dirty="0"/>
              <a:t> </a:t>
            </a:r>
            <a:r>
              <a:rPr sz="4000" b="1" dirty="0" err="1"/>
              <a:t>etish</a:t>
            </a:r>
            <a:r>
              <a:rPr sz="4000" b="1" dirty="0"/>
              <a:t> </a:t>
            </a:r>
            <a:r>
              <a:rPr sz="4000" b="1" dirty="0" err="1"/>
              <a:t>mexanizmlari</a:t>
            </a:r>
            <a:endParaRPr sz="4000" b="1" dirty="0"/>
          </a:p>
        </p:txBody>
      </p:sp>
      <p:sp>
        <p:nvSpPr>
          <p:cNvPr id="3" name="Rounded Rectangle 2"/>
          <p:cNvSpPr/>
          <p:nvPr/>
        </p:nvSpPr>
        <p:spPr>
          <a:xfrm>
            <a:off x="1188720" y="26517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42284" y="2705324"/>
            <a:ext cx="258631" cy="258631"/>
          </a:xfrm>
          <a:prstGeom prst="rect">
            <a:avLst/>
          </a:prstGeom>
          <a:noFill/>
        </p:spPr>
        <p:txBody>
          <a:bodyPr wrap="square">
            <a:spAutoFit/>
          </a:bodyPr>
          <a:lstStyle/>
          <a:p>
            <a:r>
              <a:rPr sz="1600" b="0"/>
              <a:t>1</a:t>
            </a:r>
          </a:p>
        </p:txBody>
      </p:sp>
      <p:sp>
        <p:nvSpPr>
          <p:cNvPr id="5" name="TextBox 4"/>
          <p:cNvSpPr txBox="1"/>
          <p:nvPr/>
        </p:nvSpPr>
        <p:spPr>
          <a:xfrm>
            <a:off x="2103120" y="2560320"/>
            <a:ext cx="6400800" cy="274320"/>
          </a:xfrm>
          <a:prstGeom prst="rect">
            <a:avLst/>
          </a:prstGeom>
          <a:noFill/>
        </p:spPr>
        <p:txBody>
          <a:bodyPr wrap="square">
            <a:spAutoFit/>
          </a:bodyPr>
          <a:lstStyle/>
          <a:p>
            <a:r>
              <a:rPr sz="1800" b="1"/>
              <a:t>Nizolar sabablari</a:t>
            </a:r>
          </a:p>
        </p:txBody>
      </p:sp>
      <p:sp>
        <p:nvSpPr>
          <p:cNvPr id="6" name="TextBox 5"/>
          <p:cNvSpPr txBox="1"/>
          <p:nvPr/>
        </p:nvSpPr>
        <p:spPr>
          <a:xfrm>
            <a:off x="2103120" y="2834640"/>
            <a:ext cx="9144000" cy="914400"/>
          </a:xfrm>
          <a:prstGeom prst="rect">
            <a:avLst/>
          </a:prstGeom>
          <a:noFill/>
        </p:spPr>
        <p:txBody>
          <a:bodyPr wrap="square">
            <a:spAutoFit/>
          </a:bodyPr>
          <a:lstStyle/>
          <a:p>
            <a:r>
              <a:rPr sz="1400" b="0"/>
              <a:t>  - Sanoat mulkiga oid nizolar ko‘pincha patent huquqlari buzilishi, litsenziya shartlarining noto‘g‘ri talqini yoki mualliflik huquqlari ustidan kelishmovchiliklar natijasida kelib chiqadi.</a:t>
            </a:r>
          </a:p>
        </p:txBody>
      </p:sp>
      <p:sp>
        <p:nvSpPr>
          <p:cNvPr id="7" name="Rounded Rectangle 6"/>
          <p:cNvSpPr/>
          <p:nvPr/>
        </p:nvSpPr>
        <p:spPr>
          <a:xfrm>
            <a:off x="1188720" y="35661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42284" y="3619724"/>
            <a:ext cx="258631" cy="258631"/>
          </a:xfrm>
          <a:prstGeom prst="rect">
            <a:avLst/>
          </a:prstGeom>
          <a:noFill/>
        </p:spPr>
        <p:txBody>
          <a:bodyPr wrap="square">
            <a:spAutoFit/>
          </a:bodyPr>
          <a:lstStyle/>
          <a:p>
            <a:r>
              <a:rPr sz="1600" b="0"/>
              <a:t>2</a:t>
            </a:r>
          </a:p>
        </p:txBody>
      </p:sp>
      <p:sp>
        <p:nvSpPr>
          <p:cNvPr id="9" name="TextBox 8"/>
          <p:cNvSpPr txBox="1"/>
          <p:nvPr/>
        </p:nvSpPr>
        <p:spPr>
          <a:xfrm>
            <a:off x="2103120" y="3474720"/>
            <a:ext cx="6400800" cy="274320"/>
          </a:xfrm>
          <a:prstGeom prst="rect">
            <a:avLst/>
          </a:prstGeom>
          <a:noFill/>
        </p:spPr>
        <p:txBody>
          <a:bodyPr wrap="square">
            <a:spAutoFit/>
          </a:bodyPr>
          <a:lstStyle/>
          <a:p>
            <a:r>
              <a:rPr sz="1800" b="1"/>
              <a:t>Sud orqali hal etish</a:t>
            </a:r>
          </a:p>
        </p:txBody>
      </p:sp>
      <p:sp>
        <p:nvSpPr>
          <p:cNvPr id="10" name="TextBox 9"/>
          <p:cNvSpPr txBox="1"/>
          <p:nvPr/>
        </p:nvSpPr>
        <p:spPr>
          <a:xfrm>
            <a:off x="2103120" y="3749040"/>
            <a:ext cx="6400800" cy="914400"/>
          </a:xfrm>
          <a:prstGeom prst="rect">
            <a:avLst/>
          </a:prstGeom>
          <a:noFill/>
        </p:spPr>
        <p:txBody>
          <a:bodyPr wrap="square">
            <a:spAutoFit/>
          </a:bodyPr>
          <a:lstStyle/>
          <a:p>
            <a:r>
              <a:rPr sz="1400" b="0"/>
              <a:t>  - O‘zbekiston qonunchiligiga muvofiq, sanoat mulkiga oid nizolar ko‘pincha iqtisodiy sudlar orqali ko‘rib chiqiladi va huquqiy himoya choralari belgilanadi.</a:t>
            </a:r>
          </a:p>
        </p:txBody>
      </p:sp>
      <p:sp>
        <p:nvSpPr>
          <p:cNvPr id="11" name="Rounded Rectangle 10"/>
          <p:cNvSpPr/>
          <p:nvPr/>
        </p:nvSpPr>
        <p:spPr>
          <a:xfrm>
            <a:off x="1188720" y="4480560"/>
            <a:ext cx="365760" cy="3657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42284" y="4534124"/>
            <a:ext cx="258631" cy="258631"/>
          </a:xfrm>
          <a:prstGeom prst="rect">
            <a:avLst/>
          </a:prstGeom>
          <a:noFill/>
        </p:spPr>
        <p:txBody>
          <a:bodyPr wrap="square">
            <a:spAutoFit/>
          </a:bodyPr>
          <a:lstStyle/>
          <a:p>
            <a:r>
              <a:rPr sz="1600" b="0"/>
              <a:t>3</a:t>
            </a:r>
          </a:p>
        </p:txBody>
      </p:sp>
      <p:sp>
        <p:nvSpPr>
          <p:cNvPr id="13" name="TextBox 12"/>
          <p:cNvSpPr txBox="1"/>
          <p:nvPr/>
        </p:nvSpPr>
        <p:spPr>
          <a:xfrm>
            <a:off x="2103120" y="4389120"/>
            <a:ext cx="6400800" cy="274320"/>
          </a:xfrm>
          <a:prstGeom prst="rect">
            <a:avLst/>
          </a:prstGeom>
          <a:noFill/>
        </p:spPr>
        <p:txBody>
          <a:bodyPr wrap="square">
            <a:spAutoFit/>
          </a:bodyPr>
          <a:lstStyle/>
          <a:p>
            <a:r>
              <a:rPr sz="1800" b="1"/>
              <a:t>Muqobil yechimlar</a:t>
            </a:r>
          </a:p>
        </p:txBody>
      </p:sp>
      <p:sp>
        <p:nvSpPr>
          <p:cNvPr id="14" name="TextBox 13"/>
          <p:cNvSpPr txBox="1"/>
          <p:nvPr/>
        </p:nvSpPr>
        <p:spPr>
          <a:xfrm>
            <a:off x="2103120" y="4663440"/>
            <a:ext cx="6400800" cy="914400"/>
          </a:xfrm>
          <a:prstGeom prst="rect">
            <a:avLst/>
          </a:prstGeom>
          <a:noFill/>
        </p:spPr>
        <p:txBody>
          <a:bodyPr wrap="square">
            <a:spAutoFit/>
          </a:bodyPr>
          <a:lstStyle/>
          <a:p>
            <a:r>
              <a:rPr sz="1400" b="0"/>
              <a:t>  - Ba’zi hollarda nizolarni vositachilik yoki arbitraj orqali hal qilish mumkin, bu esa tez va kam xarajatli natijaga erishishga yordam beradi.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2400"/>
            </a:pPr>
            <a:r>
              <a:rPr sz="4000" b="1" dirty="0" err="1">
                <a:solidFill>
                  <a:srgbClr val="00B050"/>
                </a:solidFill>
              </a:rPr>
              <a:t>O‘zbekiston</a:t>
            </a:r>
            <a:r>
              <a:rPr sz="4000" b="1" dirty="0">
                <a:solidFill>
                  <a:srgbClr val="00B050"/>
                </a:solidFill>
              </a:rPr>
              <a:t> </a:t>
            </a:r>
            <a:r>
              <a:rPr sz="4000" b="1" dirty="0" err="1">
                <a:solidFill>
                  <a:srgbClr val="00B050"/>
                </a:solidFill>
              </a:rPr>
              <a:t>qonunchiligida</a:t>
            </a:r>
            <a:r>
              <a:rPr sz="4000" b="1" dirty="0">
                <a:solidFill>
                  <a:srgbClr val="00B050"/>
                </a:solidFill>
              </a:rPr>
              <a:t> </a:t>
            </a:r>
            <a:r>
              <a:rPr sz="4000" b="1" dirty="0" err="1">
                <a:solidFill>
                  <a:srgbClr val="00B050"/>
                </a:solidFill>
              </a:rPr>
              <a:t>sanoat</a:t>
            </a:r>
            <a:r>
              <a:rPr sz="4000" b="1" dirty="0">
                <a:solidFill>
                  <a:srgbClr val="00B050"/>
                </a:solidFill>
              </a:rPr>
              <a:t> </a:t>
            </a:r>
            <a:r>
              <a:rPr sz="4000" b="1" dirty="0" err="1">
                <a:solidFill>
                  <a:srgbClr val="00B050"/>
                </a:solidFill>
              </a:rPr>
              <a:t>mulki</a:t>
            </a:r>
            <a:r>
              <a:rPr sz="4000" b="1" dirty="0">
                <a:solidFill>
                  <a:srgbClr val="00B050"/>
                </a:solidFill>
              </a:rPr>
              <a:t> </a:t>
            </a:r>
            <a:r>
              <a:rPr sz="4000" b="1" dirty="0" err="1">
                <a:solidFill>
                  <a:srgbClr val="00B050"/>
                </a:solidFill>
              </a:rPr>
              <a:t>muallifining</a:t>
            </a:r>
            <a:r>
              <a:rPr sz="4000" b="1" dirty="0">
                <a:solidFill>
                  <a:srgbClr val="00B050"/>
                </a:solidFill>
              </a:rPr>
              <a:t> </a:t>
            </a:r>
            <a:r>
              <a:rPr sz="4000" b="1" dirty="0" err="1">
                <a:solidFill>
                  <a:srgbClr val="00B050"/>
                </a:solidFill>
              </a:rPr>
              <a:t>huquqiy</a:t>
            </a:r>
            <a:r>
              <a:rPr sz="4000" b="1" dirty="0">
                <a:solidFill>
                  <a:srgbClr val="00B050"/>
                </a:solidFill>
              </a:rPr>
              <a:t> </a:t>
            </a:r>
            <a:r>
              <a:rPr sz="4000" b="1" dirty="0" err="1">
                <a:solidFill>
                  <a:srgbClr val="00B050"/>
                </a:solidFill>
              </a:rPr>
              <a:t>maqomi</a:t>
            </a:r>
            <a:endParaRPr sz="4000" b="1" dirty="0">
              <a:solidFill>
                <a:srgbClr val="00B050"/>
              </a:solidFill>
            </a:endParaRPr>
          </a:p>
        </p:txBody>
      </p:sp>
      <p:cxnSp>
        <p:nvCxnSpPr>
          <p:cNvPr id="3" name="Connector 2"/>
          <p:cNvCxnSpPr/>
          <p:nvPr/>
        </p:nvCxnSpPr>
        <p:spPr>
          <a:xfrm>
            <a:off x="1828800" y="2834640"/>
            <a:ext cx="841248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2621280" y="260604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688235" y="2672995"/>
            <a:ext cx="323289" cy="323289"/>
          </a:xfrm>
          <a:prstGeom prst="rect">
            <a:avLst/>
          </a:prstGeom>
          <a:noFill/>
        </p:spPr>
        <p:txBody>
          <a:bodyPr wrap="square">
            <a:spAutoFit/>
          </a:bodyPr>
          <a:lstStyle/>
          <a:p>
            <a:r>
              <a:rPr sz="1600" b="0"/>
              <a:t>1</a:t>
            </a:r>
          </a:p>
        </p:txBody>
      </p:sp>
      <p:sp>
        <p:nvSpPr>
          <p:cNvPr id="6" name="TextBox 5"/>
          <p:cNvSpPr txBox="1"/>
          <p:nvPr/>
        </p:nvSpPr>
        <p:spPr>
          <a:xfrm>
            <a:off x="1798320" y="3291840"/>
            <a:ext cx="2468880" cy="274320"/>
          </a:xfrm>
          <a:prstGeom prst="rect">
            <a:avLst/>
          </a:prstGeom>
          <a:noFill/>
        </p:spPr>
        <p:txBody>
          <a:bodyPr wrap="square">
            <a:spAutoFit/>
          </a:bodyPr>
          <a:lstStyle/>
          <a:p>
            <a:r>
              <a:rPr sz="1600" b="1"/>
              <a:t>Huquqiy maqom asoslari</a:t>
            </a:r>
          </a:p>
        </p:txBody>
      </p:sp>
      <p:sp>
        <p:nvSpPr>
          <p:cNvPr id="7" name="TextBox 6"/>
          <p:cNvSpPr txBox="1"/>
          <p:nvPr/>
        </p:nvSpPr>
        <p:spPr>
          <a:xfrm>
            <a:off x="1798320" y="3840480"/>
            <a:ext cx="2743200" cy="1828800"/>
          </a:xfrm>
          <a:prstGeom prst="rect">
            <a:avLst/>
          </a:prstGeom>
          <a:noFill/>
        </p:spPr>
        <p:txBody>
          <a:bodyPr wrap="square">
            <a:spAutoFit/>
          </a:bodyPr>
          <a:lstStyle/>
          <a:p>
            <a:r>
              <a:rPr sz="1400" b="0"/>
              <a:t>O‘zbekiston qonunchiligiga ko‘ra, sanoat mulki muallifi o‘zining intellektual mulk huquqlariga ega bo‘lishi qonun bilan kafolatlanadi.</a:t>
            </a:r>
          </a:p>
        </p:txBody>
      </p:sp>
      <p:sp>
        <p:nvSpPr>
          <p:cNvPr id="8" name="Rounded Rectangle 7"/>
          <p:cNvSpPr/>
          <p:nvPr/>
        </p:nvSpPr>
        <p:spPr>
          <a:xfrm>
            <a:off x="5638800" y="260604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05755" y="2672995"/>
            <a:ext cx="323289" cy="323289"/>
          </a:xfrm>
          <a:prstGeom prst="rect">
            <a:avLst/>
          </a:prstGeom>
          <a:noFill/>
        </p:spPr>
        <p:txBody>
          <a:bodyPr wrap="square">
            <a:spAutoFit/>
          </a:bodyPr>
          <a:lstStyle/>
          <a:p>
            <a:r>
              <a:rPr sz="1600" b="0"/>
              <a:t>2</a:t>
            </a:r>
          </a:p>
        </p:txBody>
      </p:sp>
      <p:sp>
        <p:nvSpPr>
          <p:cNvPr id="10" name="TextBox 9"/>
          <p:cNvSpPr txBox="1"/>
          <p:nvPr/>
        </p:nvSpPr>
        <p:spPr>
          <a:xfrm>
            <a:off x="4815840" y="3291840"/>
            <a:ext cx="2468880" cy="274320"/>
          </a:xfrm>
          <a:prstGeom prst="rect">
            <a:avLst/>
          </a:prstGeom>
          <a:noFill/>
        </p:spPr>
        <p:txBody>
          <a:bodyPr wrap="square">
            <a:spAutoFit/>
          </a:bodyPr>
          <a:lstStyle/>
          <a:p>
            <a:r>
              <a:rPr sz="1600" b="1"/>
              <a:t>Mualliflik huquqlari</a:t>
            </a:r>
          </a:p>
        </p:txBody>
      </p:sp>
      <p:sp>
        <p:nvSpPr>
          <p:cNvPr id="11" name="TextBox 10"/>
          <p:cNvSpPr txBox="1"/>
          <p:nvPr/>
        </p:nvSpPr>
        <p:spPr>
          <a:xfrm>
            <a:off x="4815840" y="3840480"/>
            <a:ext cx="2743200" cy="1828800"/>
          </a:xfrm>
          <a:prstGeom prst="rect">
            <a:avLst/>
          </a:prstGeom>
          <a:noFill/>
        </p:spPr>
        <p:txBody>
          <a:bodyPr wrap="square">
            <a:spAutoFit/>
          </a:bodyPr>
          <a:lstStyle/>
          <a:p>
            <a:r>
              <a:rPr sz="1400" b="0"/>
              <a:t>Mualliflar yangi texnik yechim va ixtirolar uchun patent olish, ularni tijoratlashtirish va huquqiy himoya qilish imkoniyatiga egadirlar.</a:t>
            </a:r>
          </a:p>
        </p:txBody>
      </p:sp>
      <p:sp>
        <p:nvSpPr>
          <p:cNvPr id="12" name="Rounded Rectangle 11"/>
          <p:cNvSpPr/>
          <p:nvPr/>
        </p:nvSpPr>
        <p:spPr>
          <a:xfrm>
            <a:off x="8656320" y="260604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23275" y="2672995"/>
            <a:ext cx="323289" cy="323289"/>
          </a:xfrm>
          <a:prstGeom prst="rect">
            <a:avLst/>
          </a:prstGeom>
          <a:noFill/>
        </p:spPr>
        <p:txBody>
          <a:bodyPr wrap="square">
            <a:spAutoFit/>
          </a:bodyPr>
          <a:lstStyle/>
          <a:p>
            <a:r>
              <a:rPr sz="1600" b="0"/>
              <a:t>3</a:t>
            </a:r>
          </a:p>
        </p:txBody>
      </p:sp>
      <p:sp>
        <p:nvSpPr>
          <p:cNvPr id="14" name="TextBox 13"/>
          <p:cNvSpPr txBox="1"/>
          <p:nvPr/>
        </p:nvSpPr>
        <p:spPr>
          <a:xfrm>
            <a:off x="7833360" y="3291840"/>
            <a:ext cx="2468880" cy="274320"/>
          </a:xfrm>
          <a:prstGeom prst="rect">
            <a:avLst/>
          </a:prstGeom>
          <a:noFill/>
        </p:spPr>
        <p:txBody>
          <a:bodyPr wrap="square">
            <a:spAutoFit/>
          </a:bodyPr>
          <a:lstStyle/>
          <a:p>
            <a:r>
              <a:rPr sz="1600" b="1"/>
              <a:t>Huquqlarni himoya qilish</a:t>
            </a:r>
          </a:p>
        </p:txBody>
      </p:sp>
      <p:sp>
        <p:nvSpPr>
          <p:cNvPr id="15" name="TextBox 14"/>
          <p:cNvSpPr txBox="1"/>
          <p:nvPr/>
        </p:nvSpPr>
        <p:spPr>
          <a:xfrm>
            <a:off x="7833360" y="3840480"/>
            <a:ext cx="2743200" cy="1828800"/>
          </a:xfrm>
          <a:prstGeom prst="rect">
            <a:avLst/>
          </a:prstGeom>
          <a:noFill/>
        </p:spPr>
        <p:txBody>
          <a:bodyPr wrap="square">
            <a:spAutoFit/>
          </a:bodyPr>
          <a:lstStyle/>
          <a:p>
            <a:r>
              <a:rPr sz="1400" b="0"/>
              <a:t>Mualliflar o‘z huquqlarini buzilishidan himoya qilish, nizolar yuzaga kelganda sud va idoraviy tartibda murojaat qilish huquqiga ega.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2400"/>
            </a:pPr>
            <a:r>
              <a:rPr sz="4000" b="1" dirty="0" err="1">
                <a:solidFill>
                  <a:srgbClr val="002060"/>
                </a:solidFill>
              </a:rPr>
              <a:t>O‘zbekiston</a:t>
            </a:r>
            <a:r>
              <a:rPr sz="4000" b="1" dirty="0">
                <a:solidFill>
                  <a:srgbClr val="002060"/>
                </a:solidFill>
              </a:rPr>
              <a:t> </a:t>
            </a:r>
            <a:r>
              <a:rPr sz="4000" b="1" dirty="0" err="1">
                <a:solidFill>
                  <a:srgbClr val="002060"/>
                </a:solidFill>
              </a:rPr>
              <a:t>Intellektual</a:t>
            </a:r>
            <a:r>
              <a:rPr sz="4000" b="1" dirty="0">
                <a:solidFill>
                  <a:srgbClr val="002060"/>
                </a:solidFill>
              </a:rPr>
              <a:t> </a:t>
            </a:r>
            <a:r>
              <a:rPr sz="4000" b="1" dirty="0" err="1">
                <a:solidFill>
                  <a:srgbClr val="002060"/>
                </a:solidFill>
              </a:rPr>
              <a:t>mulk</a:t>
            </a:r>
            <a:r>
              <a:rPr sz="4000" b="1" dirty="0">
                <a:solidFill>
                  <a:srgbClr val="002060"/>
                </a:solidFill>
              </a:rPr>
              <a:t> </a:t>
            </a:r>
            <a:r>
              <a:rPr sz="4000" b="1" dirty="0" err="1">
                <a:solidFill>
                  <a:srgbClr val="002060"/>
                </a:solidFill>
              </a:rPr>
              <a:t>davlat</a:t>
            </a:r>
            <a:r>
              <a:rPr sz="4000" b="1" dirty="0">
                <a:solidFill>
                  <a:srgbClr val="002060"/>
                </a:solidFill>
              </a:rPr>
              <a:t> </a:t>
            </a:r>
            <a:r>
              <a:rPr sz="4000" b="1" dirty="0" err="1">
                <a:solidFill>
                  <a:srgbClr val="002060"/>
                </a:solidFill>
              </a:rPr>
              <a:t>fondining</a:t>
            </a:r>
            <a:r>
              <a:rPr sz="4000" b="1" dirty="0">
                <a:solidFill>
                  <a:srgbClr val="002060"/>
                </a:solidFill>
              </a:rPr>
              <a:t> </a:t>
            </a:r>
            <a:r>
              <a:rPr sz="4000" b="1" dirty="0" err="1">
                <a:solidFill>
                  <a:srgbClr val="002060"/>
                </a:solidFill>
              </a:rPr>
              <a:t>tashkil</a:t>
            </a:r>
            <a:r>
              <a:rPr sz="4000" b="1" dirty="0">
                <a:solidFill>
                  <a:srgbClr val="002060"/>
                </a:solidFill>
              </a:rPr>
              <a:t> </a:t>
            </a:r>
            <a:r>
              <a:rPr sz="4000" b="1" dirty="0" err="1">
                <a:solidFill>
                  <a:srgbClr val="002060"/>
                </a:solidFill>
              </a:rPr>
              <a:t>topishi</a:t>
            </a:r>
            <a:r>
              <a:rPr sz="4000" b="1" dirty="0">
                <a:solidFill>
                  <a:srgbClr val="002060"/>
                </a:solidFill>
              </a:rPr>
              <a:t> </a:t>
            </a:r>
            <a:r>
              <a:rPr sz="4000" b="1" dirty="0" err="1">
                <a:solidFill>
                  <a:srgbClr val="002060"/>
                </a:solidFill>
              </a:rPr>
              <a:t>va</a:t>
            </a:r>
            <a:r>
              <a:rPr sz="4000" b="1" dirty="0">
                <a:solidFill>
                  <a:srgbClr val="002060"/>
                </a:solidFill>
              </a:rPr>
              <a:t> </a:t>
            </a:r>
            <a:r>
              <a:rPr sz="4000" b="1" dirty="0" err="1">
                <a:solidFill>
                  <a:srgbClr val="002060"/>
                </a:solidFill>
              </a:rPr>
              <a:t>asosiy</a:t>
            </a:r>
            <a:r>
              <a:rPr sz="4000" b="1" dirty="0">
                <a:solidFill>
                  <a:srgbClr val="002060"/>
                </a:solidFill>
              </a:rPr>
              <a:t> </a:t>
            </a:r>
            <a:r>
              <a:rPr sz="4000" b="1" dirty="0" err="1">
                <a:solidFill>
                  <a:srgbClr val="002060"/>
                </a:solidFill>
              </a:rPr>
              <a:t>vazifalari</a:t>
            </a:r>
            <a:endParaRPr sz="4000" b="1" dirty="0">
              <a:solidFill>
                <a:srgbClr val="002060"/>
              </a:solidFill>
            </a:endParaRPr>
          </a:p>
        </p:txBody>
      </p:sp>
      <p:sp>
        <p:nvSpPr>
          <p:cNvPr id="3" name="Rounded Rectangle 2"/>
          <p:cNvSpPr/>
          <p:nvPr/>
        </p:nvSpPr>
        <p:spPr>
          <a:xfrm>
            <a:off x="1981200" y="22860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164080" y="2468880"/>
            <a:ext cx="7863840" cy="274320"/>
          </a:xfrm>
          <a:prstGeom prst="rect">
            <a:avLst/>
          </a:prstGeom>
          <a:noFill/>
        </p:spPr>
        <p:txBody>
          <a:bodyPr wrap="square">
            <a:spAutoFit/>
          </a:bodyPr>
          <a:lstStyle/>
          <a:p>
            <a:r>
              <a:rPr sz="1600" b="1"/>
              <a:t>Tashkil topish tarixi</a:t>
            </a:r>
          </a:p>
        </p:txBody>
      </p:sp>
      <p:sp>
        <p:nvSpPr>
          <p:cNvPr id="5" name="TextBox 4"/>
          <p:cNvSpPr txBox="1"/>
          <p:nvPr/>
        </p:nvSpPr>
        <p:spPr>
          <a:xfrm>
            <a:off x="2164080" y="2743200"/>
            <a:ext cx="7863840" cy="731520"/>
          </a:xfrm>
          <a:prstGeom prst="rect">
            <a:avLst/>
          </a:prstGeom>
          <a:noFill/>
        </p:spPr>
        <p:txBody>
          <a:bodyPr wrap="square">
            <a:spAutoFit/>
          </a:bodyPr>
          <a:lstStyle/>
          <a:p>
            <a:r>
              <a:rPr sz="1400" b="0"/>
              <a:t>O‘zbekiston Intellektual mulk davlat fondi 1992-yilda tashkil etilib, innovatsion faoliyat va intellektual mulkni boshqarish tizimini shakllantirishga xizmat qiladi.</a:t>
            </a:r>
          </a:p>
        </p:txBody>
      </p:sp>
      <p:sp>
        <p:nvSpPr>
          <p:cNvPr id="6" name="Rounded Rectangle 5"/>
          <p:cNvSpPr/>
          <p:nvPr/>
        </p:nvSpPr>
        <p:spPr>
          <a:xfrm>
            <a:off x="1981200" y="36576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164080" y="3840480"/>
            <a:ext cx="7863840" cy="274320"/>
          </a:xfrm>
          <a:prstGeom prst="rect">
            <a:avLst/>
          </a:prstGeom>
          <a:noFill/>
        </p:spPr>
        <p:txBody>
          <a:bodyPr wrap="square">
            <a:spAutoFit/>
          </a:bodyPr>
          <a:lstStyle/>
          <a:p>
            <a:r>
              <a:rPr sz="1600" b="1"/>
              <a:t>Asosiy vazifalar</a:t>
            </a:r>
          </a:p>
        </p:txBody>
      </p:sp>
      <p:sp>
        <p:nvSpPr>
          <p:cNvPr id="8" name="TextBox 7"/>
          <p:cNvSpPr txBox="1"/>
          <p:nvPr/>
        </p:nvSpPr>
        <p:spPr>
          <a:xfrm>
            <a:off x="2164080" y="4114800"/>
            <a:ext cx="7863840" cy="731520"/>
          </a:xfrm>
          <a:prstGeom prst="rect">
            <a:avLst/>
          </a:prstGeom>
          <a:noFill/>
        </p:spPr>
        <p:txBody>
          <a:bodyPr wrap="square">
            <a:spAutoFit/>
          </a:bodyPr>
          <a:lstStyle/>
          <a:p>
            <a:r>
              <a:rPr sz="1400" b="0"/>
              <a:t>Fondning vazifalari — patent axborotini tarqatish, huquqiy himoya ko‘rsatish va texnik ijodkorlikni qo‘llab-quvvatlashdan iborat.</a:t>
            </a:r>
          </a:p>
        </p:txBody>
      </p:sp>
      <p:sp>
        <p:nvSpPr>
          <p:cNvPr id="9" name="Rounded Rectangle 8"/>
          <p:cNvSpPr/>
          <p:nvPr/>
        </p:nvSpPr>
        <p:spPr>
          <a:xfrm>
            <a:off x="1981200" y="5029200"/>
            <a:ext cx="8229600" cy="11887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64080" y="5212080"/>
            <a:ext cx="7863840" cy="274320"/>
          </a:xfrm>
          <a:prstGeom prst="rect">
            <a:avLst/>
          </a:prstGeom>
          <a:noFill/>
        </p:spPr>
        <p:txBody>
          <a:bodyPr wrap="square">
            <a:spAutoFit/>
          </a:bodyPr>
          <a:lstStyle/>
          <a:p>
            <a:r>
              <a:rPr sz="1600" b="1"/>
              <a:t>Ijodkorlarni qo‘llab-quvvatlash</a:t>
            </a:r>
          </a:p>
        </p:txBody>
      </p:sp>
      <p:sp>
        <p:nvSpPr>
          <p:cNvPr id="11" name="TextBox 10"/>
          <p:cNvSpPr txBox="1"/>
          <p:nvPr/>
        </p:nvSpPr>
        <p:spPr>
          <a:xfrm>
            <a:off x="2164080" y="5486400"/>
            <a:ext cx="7863840" cy="731520"/>
          </a:xfrm>
          <a:prstGeom prst="rect">
            <a:avLst/>
          </a:prstGeom>
          <a:noFill/>
        </p:spPr>
        <p:txBody>
          <a:bodyPr wrap="square">
            <a:spAutoFit/>
          </a:bodyPr>
          <a:lstStyle/>
          <a:p>
            <a:r>
              <a:rPr sz="1400" b="0"/>
              <a:t>Fond ijodkorlarga maslahatlar, axborot resurslari va huquqiy yordam ko‘rsatib, texnik loyihalash va patentlash jarayonini yengillashtiradi.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2400"/>
            </a:pPr>
            <a:r>
              <a:rPr sz="4000" b="1" dirty="0" err="1"/>
              <a:t>Intellektual</a:t>
            </a:r>
            <a:r>
              <a:rPr sz="4000" b="1" dirty="0"/>
              <a:t> </a:t>
            </a:r>
            <a:r>
              <a:rPr sz="4000" b="1" dirty="0" err="1"/>
              <a:t>mulk</a:t>
            </a:r>
            <a:r>
              <a:rPr sz="4000" b="1" dirty="0"/>
              <a:t> </a:t>
            </a:r>
            <a:r>
              <a:rPr sz="4000" b="1" dirty="0" err="1"/>
              <a:t>davlat</a:t>
            </a:r>
            <a:r>
              <a:rPr sz="4000" b="1" dirty="0"/>
              <a:t> </a:t>
            </a:r>
            <a:r>
              <a:rPr sz="4000" b="1" dirty="0" err="1"/>
              <a:t>fondining</a:t>
            </a:r>
            <a:r>
              <a:rPr sz="4000" b="1" dirty="0"/>
              <a:t> </a:t>
            </a:r>
            <a:r>
              <a:rPr sz="4000" b="1" dirty="0" err="1"/>
              <a:t>texnik</a:t>
            </a:r>
            <a:r>
              <a:rPr sz="4000" b="1" dirty="0"/>
              <a:t> </a:t>
            </a:r>
            <a:r>
              <a:rPr sz="4000" b="1" dirty="0" err="1"/>
              <a:t>ijodkorlikni</a:t>
            </a:r>
            <a:r>
              <a:rPr sz="4000" b="1" dirty="0"/>
              <a:t> </a:t>
            </a:r>
            <a:r>
              <a:rPr sz="4000" b="1" dirty="0" err="1"/>
              <a:t>qo‘llab-quvvatlashdagi</a:t>
            </a:r>
            <a:r>
              <a:rPr sz="4000" b="1" dirty="0"/>
              <a:t> </a:t>
            </a:r>
            <a:r>
              <a:rPr sz="4000" b="1" dirty="0" err="1"/>
              <a:t>roli</a:t>
            </a:r>
            <a:endParaRPr sz="4000" b="1" dirty="0"/>
          </a:p>
        </p:txBody>
      </p:sp>
      <p:sp>
        <p:nvSpPr>
          <p:cNvPr id="3" name="Rounded Rectangle 2"/>
          <p:cNvSpPr/>
          <p:nvPr/>
        </p:nvSpPr>
        <p:spPr>
          <a:xfrm>
            <a:off x="129540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26920" y="2468880"/>
            <a:ext cx="2194560" cy="914400"/>
          </a:xfrm>
          <a:prstGeom prst="rect">
            <a:avLst/>
          </a:prstGeom>
          <a:noFill/>
        </p:spPr>
        <p:txBody>
          <a:bodyPr wrap="square">
            <a:spAutoFit/>
          </a:bodyPr>
          <a:lstStyle/>
          <a:p>
            <a:r>
              <a:rPr sz="3600" b="1"/>
              <a:t>01</a:t>
            </a:r>
          </a:p>
        </p:txBody>
      </p:sp>
      <p:sp>
        <p:nvSpPr>
          <p:cNvPr id="5" name="TextBox 4"/>
          <p:cNvSpPr txBox="1"/>
          <p:nvPr/>
        </p:nvSpPr>
        <p:spPr>
          <a:xfrm>
            <a:off x="1295400" y="3063240"/>
            <a:ext cx="2194560" cy="457200"/>
          </a:xfrm>
          <a:prstGeom prst="rect">
            <a:avLst/>
          </a:prstGeom>
          <a:noFill/>
        </p:spPr>
        <p:txBody>
          <a:bodyPr wrap="square">
            <a:spAutoFit/>
          </a:bodyPr>
          <a:lstStyle/>
          <a:p>
            <a:r>
              <a:rPr sz="1600" b="1"/>
              <a:t>Ijodiy loyihalarni qo‘llab-quvvatlash</a:t>
            </a:r>
          </a:p>
        </p:txBody>
      </p:sp>
      <p:sp>
        <p:nvSpPr>
          <p:cNvPr id="6" name="TextBox 5"/>
          <p:cNvSpPr txBox="1"/>
          <p:nvPr/>
        </p:nvSpPr>
        <p:spPr>
          <a:xfrm>
            <a:off x="1295400" y="3931920"/>
            <a:ext cx="2194560" cy="2743200"/>
          </a:xfrm>
          <a:prstGeom prst="rect">
            <a:avLst/>
          </a:prstGeom>
          <a:noFill/>
        </p:spPr>
        <p:txBody>
          <a:bodyPr wrap="square">
            <a:spAutoFit/>
          </a:bodyPr>
          <a:lstStyle/>
          <a:p>
            <a:r>
              <a:rPr sz="1400" b="0"/>
              <a:t>Fond yosh ixtirochilar va mualliflarning texnik loyihalarini moliyaviy va axborot resurslari bilan samarali qo‘llab-quvvatlaydi.</a:t>
            </a:r>
          </a:p>
        </p:txBody>
      </p:sp>
      <p:sp>
        <p:nvSpPr>
          <p:cNvPr id="7" name="Rounded Rectangle 6"/>
          <p:cNvSpPr/>
          <p:nvPr/>
        </p:nvSpPr>
        <p:spPr>
          <a:xfrm>
            <a:off x="376428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95800" y="2468880"/>
            <a:ext cx="2194560" cy="914400"/>
          </a:xfrm>
          <a:prstGeom prst="rect">
            <a:avLst/>
          </a:prstGeom>
          <a:noFill/>
        </p:spPr>
        <p:txBody>
          <a:bodyPr wrap="square">
            <a:spAutoFit/>
          </a:bodyPr>
          <a:lstStyle/>
          <a:p>
            <a:r>
              <a:rPr sz="3600" b="1"/>
              <a:t>02</a:t>
            </a:r>
          </a:p>
        </p:txBody>
      </p:sp>
      <p:sp>
        <p:nvSpPr>
          <p:cNvPr id="9" name="TextBox 8"/>
          <p:cNvSpPr txBox="1"/>
          <p:nvPr/>
        </p:nvSpPr>
        <p:spPr>
          <a:xfrm>
            <a:off x="3764280" y="3063240"/>
            <a:ext cx="2194560" cy="457200"/>
          </a:xfrm>
          <a:prstGeom prst="rect">
            <a:avLst/>
          </a:prstGeom>
          <a:noFill/>
        </p:spPr>
        <p:txBody>
          <a:bodyPr wrap="square">
            <a:spAutoFit/>
          </a:bodyPr>
          <a:lstStyle/>
          <a:p>
            <a:r>
              <a:rPr sz="1800" b="1"/>
              <a:t>Patent ma’lumotlar bazasi</a:t>
            </a:r>
          </a:p>
        </p:txBody>
      </p:sp>
      <p:sp>
        <p:nvSpPr>
          <p:cNvPr id="10" name="TextBox 9"/>
          <p:cNvSpPr txBox="1"/>
          <p:nvPr/>
        </p:nvSpPr>
        <p:spPr>
          <a:xfrm>
            <a:off x="3764280" y="3931920"/>
            <a:ext cx="2194560" cy="2743200"/>
          </a:xfrm>
          <a:prstGeom prst="rect">
            <a:avLst/>
          </a:prstGeom>
          <a:noFill/>
        </p:spPr>
        <p:txBody>
          <a:bodyPr wrap="square">
            <a:spAutoFit/>
          </a:bodyPr>
          <a:lstStyle/>
          <a:p>
            <a:r>
              <a:rPr sz="1400" b="0"/>
              <a:t>Fond sanoat mulki bo‘yicha keng patent axborotini taqdim etib, texnik ijodkorlik uchun zarur bilim va tajriba almashuvini ta’minlaydi.</a:t>
            </a:r>
          </a:p>
        </p:txBody>
      </p:sp>
      <p:sp>
        <p:nvSpPr>
          <p:cNvPr id="11" name="Rounded Rectangle 10"/>
          <p:cNvSpPr/>
          <p:nvPr/>
        </p:nvSpPr>
        <p:spPr>
          <a:xfrm>
            <a:off x="623316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64680" y="2468880"/>
            <a:ext cx="2194560" cy="914400"/>
          </a:xfrm>
          <a:prstGeom prst="rect">
            <a:avLst/>
          </a:prstGeom>
          <a:noFill/>
        </p:spPr>
        <p:txBody>
          <a:bodyPr wrap="square">
            <a:spAutoFit/>
          </a:bodyPr>
          <a:lstStyle/>
          <a:p>
            <a:r>
              <a:rPr sz="3600" b="1"/>
              <a:t>03</a:t>
            </a:r>
          </a:p>
        </p:txBody>
      </p:sp>
      <p:sp>
        <p:nvSpPr>
          <p:cNvPr id="13" name="TextBox 12"/>
          <p:cNvSpPr txBox="1"/>
          <p:nvPr/>
        </p:nvSpPr>
        <p:spPr>
          <a:xfrm>
            <a:off x="6233160" y="3063240"/>
            <a:ext cx="2194560" cy="457200"/>
          </a:xfrm>
          <a:prstGeom prst="rect">
            <a:avLst/>
          </a:prstGeom>
          <a:noFill/>
        </p:spPr>
        <p:txBody>
          <a:bodyPr wrap="square">
            <a:spAutoFit/>
          </a:bodyPr>
          <a:lstStyle/>
          <a:p>
            <a:r>
              <a:rPr sz="1800" b="1"/>
              <a:t>O‘quv va seminarlar</a:t>
            </a:r>
          </a:p>
        </p:txBody>
      </p:sp>
      <p:sp>
        <p:nvSpPr>
          <p:cNvPr id="14" name="TextBox 13"/>
          <p:cNvSpPr txBox="1"/>
          <p:nvPr/>
        </p:nvSpPr>
        <p:spPr>
          <a:xfrm>
            <a:off x="6233160" y="3931920"/>
            <a:ext cx="2194560" cy="2743200"/>
          </a:xfrm>
          <a:prstGeom prst="rect">
            <a:avLst/>
          </a:prstGeom>
          <a:noFill/>
        </p:spPr>
        <p:txBody>
          <a:bodyPr wrap="square">
            <a:spAutoFit/>
          </a:bodyPr>
          <a:lstStyle/>
          <a:p>
            <a:r>
              <a:rPr sz="1400" b="0"/>
              <a:t>Fond tomonidan tashkil etiladigan o‘quv kurslari va seminarlar texnik ijodkorlarni zamonaviy bilim va ko‘nikmalar bilan boyitadi.</a:t>
            </a:r>
          </a:p>
        </p:txBody>
      </p:sp>
      <p:sp>
        <p:nvSpPr>
          <p:cNvPr id="15" name="Rounded Rectangle 14"/>
          <p:cNvSpPr/>
          <p:nvPr/>
        </p:nvSpPr>
        <p:spPr>
          <a:xfrm>
            <a:off x="870204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33560" y="2468880"/>
            <a:ext cx="2194560" cy="914400"/>
          </a:xfrm>
          <a:prstGeom prst="rect">
            <a:avLst/>
          </a:prstGeom>
          <a:noFill/>
        </p:spPr>
        <p:txBody>
          <a:bodyPr wrap="square">
            <a:spAutoFit/>
          </a:bodyPr>
          <a:lstStyle/>
          <a:p>
            <a:r>
              <a:rPr sz="3600" b="1"/>
              <a:t>04</a:t>
            </a:r>
          </a:p>
        </p:txBody>
      </p:sp>
      <p:sp>
        <p:nvSpPr>
          <p:cNvPr id="17" name="TextBox 16"/>
          <p:cNvSpPr txBox="1"/>
          <p:nvPr/>
        </p:nvSpPr>
        <p:spPr>
          <a:xfrm>
            <a:off x="8702040" y="3063240"/>
            <a:ext cx="2194560" cy="457200"/>
          </a:xfrm>
          <a:prstGeom prst="rect">
            <a:avLst/>
          </a:prstGeom>
          <a:noFill/>
        </p:spPr>
        <p:txBody>
          <a:bodyPr wrap="square">
            <a:spAutoFit/>
          </a:bodyPr>
          <a:lstStyle/>
          <a:p>
            <a:r>
              <a:rPr sz="1800" b="1"/>
              <a:t>Innovatsion muhit yaratish</a:t>
            </a:r>
          </a:p>
        </p:txBody>
      </p:sp>
      <p:sp>
        <p:nvSpPr>
          <p:cNvPr id="18" name="TextBox 17"/>
          <p:cNvSpPr txBox="1"/>
          <p:nvPr/>
        </p:nvSpPr>
        <p:spPr>
          <a:xfrm>
            <a:off x="8702040" y="3931920"/>
            <a:ext cx="2194560" cy="2743200"/>
          </a:xfrm>
          <a:prstGeom prst="rect">
            <a:avLst/>
          </a:prstGeom>
          <a:noFill/>
        </p:spPr>
        <p:txBody>
          <a:bodyPr wrap="square">
            <a:spAutoFit/>
          </a:bodyPr>
          <a:lstStyle/>
          <a:p>
            <a:r>
              <a:rPr sz="1400" b="0"/>
              <a:t>Fond innovatsion muhitni rivojlantirish orqali texnik loyihalarning amaliyotga joriy etilishiga va raqobatbardosh mahsulotlar yaratilishiga sharoit yaratadi.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2400"/>
            </a:pPr>
            <a:r>
              <a:rPr sz="4000" b="1" dirty="0"/>
              <a:t>Patent </a:t>
            </a:r>
            <a:r>
              <a:rPr sz="4000" b="1" dirty="0" err="1"/>
              <a:t>axborotining</a:t>
            </a:r>
            <a:r>
              <a:rPr sz="4000" b="1" dirty="0"/>
              <a:t> </a:t>
            </a:r>
            <a:r>
              <a:rPr sz="4000" b="1" dirty="0" err="1"/>
              <a:t>tarqatilishida</a:t>
            </a:r>
            <a:r>
              <a:rPr sz="4000" b="1" dirty="0"/>
              <a:t> </a:t>
            </a:r>
            <a:r>
              <a:rPr sz="4000" b="1" dirty="0" err="1"/>
              <a:t>fondning</a:t>
            </a:r>
            <a:r>
              <a:rPr sz="4000" b="1" dirty="0"/>
              <a:t> </a:t>
            </a:r>
            <a:r>
              <a:rPr sz="4000" b="1" dirty="0" err="1"/>
              <a:t>ahamiyati</a:t>
            </a:r>
            <a:r>
              <a:rPr sz="4000" b="1" dirty="0"/>
              <a:t> </a:t>
            </a:r>
            <a:r>
              <a:rPr sz="4000" b="1" dirty="0" err="1"/>
              <a:t>va</a:t>
            </a:r>
            <a:r>
              <a:rPr sz="4000" b="1" dirty="0"/>
              <a:t> </a:t>
            </a:r>
            <a:r>
              <a:rPr sz="4000" b="1" dirty="0" err="1"/>
              <a:t>xizmatlari</a:t>
            </a:r>
            <a:endParaRPr sz="4000" b="1" dirty="0"/>
          </a:p>
        </p:txBody>
      </p:sp>
      <p:cxnSp>
        <p:nvCxnSpPr>
          <p:cNvPr id="3" name="Connector 2"/>
          <p:cNvCxnSpPr/>
          <p:nvPr/>
        </p:nvCxnSpPr>
        <p:spPr>
          <a:xfrm>
            <a:off x="1828800" y="2834640"/>
            <a:ext cx="841248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2621280" y="260604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688235" y="2672995"/>
            <a:ext cx="323289" cy="323289"/>
          </a:xfrm>
          <a:prstGeom prst="rect">
            <a:avLst/>
          </a:prstGeom>
          <a:noFill/>
        </p:spPr>
        <p:txBody>
          <a:bodyPr wrap="square">
            <a:spAutoFit/>
          </a:bodyPr>
          <a:lstStyle/>
          <a:p>
            <a:r>
              <a:rPr sz="1600" b="0"/>
              <a:t>1</a:t>
            </a:r>
          </a:p>
        </p:txBody>
      </p:sp>
      <p:sp>
        <p:nvSpPr>
          <p:cNvPr id="6" name="TextBox 5"/>
          <p:cNvSpPr txBox="1"/>
          <p:nvPr/>
        </p:nvSpPr>
        <p:spPr>
          <a:xfrm>
            <a:off x="1798320" y="3291840"/>
            <a:ext cx="2468880" cy="274320"/>
          </a:xfrm>
          <a:prstGeom prst="rect">
            <a:avLst/>
          </a:prstGeom>
          <a:noFill/>
        </p:spPr>
        <p:txBody>
          <a:bodyPr wrap="square">
            <a:spAutoFit/>
          </a:bodyPr>
          <a:lstStyle/>
          <a:p>
            <a:r>
              <a:rPr sz="1600" b="1"/>
              <a:t>Patent ma’lumotlar bazasi</a:t>
            </a:r>
          </a:p>
        </p:txBody>
      </p:sp>
      <p:sp>
        <p:nvSpPr>
          <p:cNvPr id="7" name="TextBox 6"/>
          <p:cNvSpPr txBox="1"/>
          <p:nvPr/>
        </p:nvSpPr>
        <p:spPr>
          <a:xfrm>
            <a:off x="1798320" y="3840480"/>
            <a:ext cx="2743200" cy="1828800"/>
          </a:xfrm>
          <a:prstGeom prst="rect">
            <a:avLst/>
          </a:prstGeom>
          <a:noFill/>
        </p:spPr>
        <p:txBody>
          <a:bodyPr wrap="square">
            <a:spAutoFit/>
          </a:bodyPr>
          <a:lstStyle/>
          <a:p>
            <a:r>
              <a:rPr sz="1400" b="0"/>
              <a:t>Fond patent axborotini yagona bazada jamlab, foydalanuvchilarga so‘nggi texnik yangiliklar va ixtirolar haqida tezkor ma’lumot beradi.</a:t>
            </a:r>
          </a:p>
        </p:txBody>
      </p:sp>
      <p:sp>
        <p:nvSpPr>
          <p:cNvPr id="8" name="Rounded Rectangle 7"/>
          <p:cNvSpPr/>
          <p:nvPr/>
        </p:nvSpPr>
        <p:spPr>
          <a:xfrm>
            <a:off x="5638800" y="260604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05755" y="2672995"/>
            <a:ext cx="323289" cy="323289"/>
          </a:xfrm>
          <a:prstGeom prst="rect">
            <a:avLst/>
          </a:prstGeom>
          <a:noFill/>
        </p:spPr>
        <p:txBody>
          <a:bodyPr wrap="square">
            <a:spAutoFit/>
          </a:bodyPr>
          <a:lstStyle/>
          <a:p>
            <a:r>
              <a:rPr sz="1600" b="0"/>
              <a:t>2</a:t>
            </a:r>
          </a:p>
        </p:txBody>
      </p:sp>
      <p:sp>
        <p:nvSpPr>
          <p:cNvPr id="10" name="TextBox 9"/>
          <p:cNvSpPr txBox="1"/>
          <p:nvPr/>
        </p:nvSpPr>
        <p:spPr>
          <a:xfrm>
            <a:off x="4815840" y="3291840"/>
            <a:ext cx="2468880" cy="274320"/>
          </a:xfrm>
          <a:prstGeom prst="rect">
            <a:avLst/>
          </a:prstGeom>
          <a:noFill/>
        </p:spPr>
        <p:txBody>
          <a:bodyPr wrap="square">
            <a:spAutoFit/>
          </a:bodyPr>
          <a:lstStyle/>
          <a:p>
            <a:r>
              <a:rPr sz="1600" b="1"/>
              <a:t>Elektron xizmatlar</a:t>
            </a:r>
          </a:p>
        </p:txBody>
      </p:sp>
      <p:sp>
        <p:nvSpPr>
          <p:cNvPr id="11" name="TextBox 10"/>
          <p:cNvSpPr txBox="1"/>
          <p:nvPr/>
        </p:nvSpPr>
        <p:spPr>
          <a:xfrm>
            <a:off x="4815840" y="3840480"/>
            <a:ext cx="2743200" cy="1828800"/>
          </a:xfrm>
          <a:prstGeom prst="rect">
            <a:avLst/>
          </a:prstGeom>
          <a:noFill/>
        </p:spPr>
        <p:txBody>
          <a:bodyPr wrap="square">
            <a:spAutoFit/>
          </a:bodyPr>
          <a:lstStyle/>
          <a:p>
            <a:r>
              <a:rPr sz="1400" b="0"/>
              <a:t>Zamonaviy elektron platformalar orqali patent hujjatlari va axborotlar onlayn taqdim etilib, ilmiy izlanish va innovatsion faoliyatga qulaylik yaratadi.</a:t>
            </a:r>
          </a:p>
        </p:txBody>
      </p:sp>
      <p:sp>
        <p:nvSpPr>
          <p:cNvPr id="12" name="Rounded Rectangle 11"/>
          <p:cNvSpPr/>
          <p:nvPr/>
        </p:nvSpPr>
        <p:spPr>
          <a:xfrm>
            <a:off x="8656320" y="2606040"/>
            <a:ext cx="457200" cy="457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23275" y="2672995"/>
            <a:ext cx="323289" cy="323289"/>
          </a:xfrm>
          <a:prstGeom prst="rect">
            <a:avLst/>
          </a:prstGeom>
          <a:noFill/>
        </p:spPr>
        <p:txBody>
          <a:bodyPr wrap="square">
            <a:spAutoFit/>
          </a:bodyPr>
          <a:lstStyle/>
          <a:p>
            <a:r>
              <a:rPr sz="1600" b="0"/>
              <a:t>3</a:t>
            </a:r>
          </a:p>
        </p:txBody>
      </p:sp>
      <p:sp>
        <p:nvSpPr>
          <p:cNvPr id="14" name="TextBox 13"/>
          <p:cNvSpPr txBox="1"/>
          <p:nvPr/>
        </p:nvSpPr>
        <p:spPr>
          <a:xfrm>
            <a:off x="7833360" y="3291840"/>
            <a:ext cx="2468880" cy="274320"/>
          </a:xfrm>
          <a:prstGeom prst="rect">
            <a:avLst/>
          </a:prstGeom>
          <a:noFill/>
        </p:spPr>
        <p:txBody>
          <a:bodyPr wrap="square">
            <a:spAutoFit/>
          </a:bodyPr>
          <a:lstStyle/>
          <a:p>
            <a:r>
              <a:rPr sz="1600" b="1"/>
              <a:t>Axborot tarqatish tadbirlari</a:t>
            </a:r>
          </a:p>
        </p:txBody>
      </p:sp>
      <p:sp>
        <p:nvSpPr>
          <p:cNvPr id="15" name="TextBox 14"/>
          <p:cNvSpPr txBox="1"/>
          <p:nvPr/>
        </p:nvSpPr>
        <p:spPr>
          <a:xfrm>
            <a:off x="7833360" y="3840480"/>
            <a:ext cx="2743200" cy="1828800"/>
          </a:xfrm>
          <a:prstGeom prst="rect">
            <a:avLst/>
          </a:prstGeom>
          <a:noFill/>
        </p:spPr>
        <p:txBody>
          <a:bodyPr wrap="square">
            <a:spAutoFit/>
          </a:bodyPr>
          <a:lstStyle/>
          <a:p>
            <a:r>
              <a:rPr sz="1400" b="0"/>
              <a:t>Fond seminar, ko‘rgazma va treninglar orqali patent axborotini keng jamoatchilik va yosh tadqiqotchilarga yetkazish bo‘yicha faol ish olib boradi.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2400"/>
            </a:pPr>
            <a:r>
              <a:rPr sz="4000" dirty="0">
                <a:solidFill>
                  <a:schemeClr val="tx1">
                    <a:lumMod val="95000"/>
                    <a:lumOff val="5000"/>
                  </a:schemeClr>
                </a:solidFill>
              </a:rPr>
              <a:t>Fond </a:t>
            </a:r>
            <a:r>
              <a:rPr sz="4000" dirty="0" err="1">
                <a:solidFill>
                  <a:schemeClr val="tx1">
                    <a:lumMod val="95000"/>
                    <a:lumOff val="5000"/>
                  </a:schemeClr>
                </a:solidFill>
              </a:rPr>
              <a:t>tomonidan</a:t>
            </a:r>
            <a:r>
              <a:rPr sz="4000" dirty="0">
                <a:solidFill>
                  <a:schemeClr val="tx1">
                    <a:lumMod val="95000"/>
                    <a:lumOff val="5000"/>
                  </a:schemeClr>
                </a:solidFill>
              </a:rPr>
              <a:t> </a:t>
            </a:r>
            <a:r>
              <a:rPr sz="4000" dirty="0" err="1">
                <a:solidFill>
                  <a:schemeClr val="tx1">
                    <a:lumMod val="95000"/>
                    <a:lumOff val="5000"/>
                  </a:schemeClr>
                </a:solidFill>
              </a:rPr>
              <a:t>sanoat</a:t>
            </a:r>
            <a:r>
              <a:rPr sz="4000" dirty="0">
                <a:solidFill>
                  <a:schemeClr val="tx1">
                    <a:lumMod val="95000"/>
                    <a:lumOff val="5000"/>
                  </a:schemeClr>
                </a:solidFill>
              </a:rPr>
              <a:t> </a:t>
            </a:r>
            <a:r>
              <a:rPr sz="4000" dirty="0" err="1">
                <a:solidFill>
                  <a:schemeClr val="tx1">
                    <a:lumMod val="95000"/>
                    <a:lumOff val="5000"/>
                  </a:schemeClr>
                </a:solidFill>
              </a:rPr>
              <a:t>mulki</a:t>
            </a:r>
            <a:r>
              <a:rPr sz="4000" dirty="0">
                <a:solidFill>
                  <a:schemeClr val="tx1">
                    <a:lumMod val="95000"/>
                    <a:lumOff val="5000"/>
                  </a:schemeClr>
                </a:solidFill>
              </a:rPr>
              <a:t> </a:t>
            </a:r>
            <a:r>
              <a:rPr sz="4000" dirty="0" err="1">
                <a:solidFill>
                  <a:schemeClr val="tx1">
                    <a:lumMod val="95000"/>
                    <a:lumOff val="5000"/>
                  </a:schemeClr>
                </a:solidFill>
              </a:rPr>
              <a:t>huquqiy</a:t>
            </a:r>
            <a:r>
              <a:rPr sz="4000" dirty="0">
                <a:solidFill>
                  <a:schemeClr val="tx1">
                    <a:lumMod val="95000"/>
                    <a:lumOff val="5000"/>
                  </a:schemeClr>
                </a:solidFill>
              </a:rPr>
              <a:t> </a:t>
            </a:r>
            <a:r>
              <a:rPr sz="4000" dirty="0" err="1">
                <a:solidFill>
                  <a:schemeClr val="tx1">
                    <a:lumMod val="95000"/>
                    <a:lumOff val="5000"/>
                  </a:schemeClr>
                </a:solidFill>
              </a:rPr>
              <a:t>muhofazasi</a:t>
            </a:r>
            <a:r>
              <a:rPr sz="4000" dirty="0">
                <a:solidFill>
                  <a:schemeClr val="tx1">
                    <a:lumMod val="95000"/>
                    <a:lumOff val="5000"/>
                  </a:schemeClr>
                </a:solidFill>
              </a:rPr>
              <a:t> </a:t>
            </a:r>
            <a:r>
              <a:rPr sz="4000" dirty="0" err="1">
                <a:solidFill>
                  <a:schemeClr val="tx1">
                    <a:lumMod val="95000"/>
                    <a:lumOff val="5000"/>
                  </a:schemeClr>
                </a:solidFill>
              </a:rPr>
              <a:t>tizimini</a:t>
            </a:r>
            <a:r>
              <a:rPr sz="4000" dirty="0">
                <a:solidFill>
                  <a:schemeClr val="tx1">
                    <a:lumMod val="95000"/>
                    <a:lumOff val="5000"/>
                  </a:schemeClr>
                </a:solidFill>
              </a:rPr>
              <a:t> </a:t>
            </a:r>
            <a:r>
              <a:rPr sz="4000" dirty="0" err="1">
                <a:solidFill>
                  <a:schemeClr val="tx1">
                    <a:lumMod val="95000"/>
                    <a:lumOff val="5000"/>
                  </a:schemeClr>
                </a:solidFill>
              </a:rPr>
              <a:t>rivojlantirish</a:t>
            </a:r>
            <a:endParaRPr sz="4000" dirty="0">
              <a:solidFill>
                <a:schemeClr val="tx1">
                  <a:lumMod val="95000"/>
                  <a:lumOff val="5000"/>
                </a:schemeClr>
              </a:solidFill>
            </a:endParaRPr>
          </a:p>
        </p:txBody>
      </p:sp>
      <p:sp>
        <p:nvSpPr>
          <p:cNvPr id="3" name="Rounded Rectangle 2"/>
          <p:cNvSpPr/>
          <p:nvPr/>
        </p:nvSpPr>
        <p:spPr>
          <a:xfrm>
            <a:off x="1203960" y="256032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64219" y="2620579"/>
            <a:ext cx="290960" cy="290960"/>
          </a:xfrm>
          <a:prstGeom prst="rect">
            <a:avLst/>
          </a:prstGeom>
          <a:noFill/>
        </p:spPr>
        <p:txBody>
          <a:bodyPr wrap="square">
            <a:spAutoFit/>
          </a:bodyPr>
          <a:lstStyle/>
          <a:p>
            <a:r>
              <a:rPr sz="1600" b="0"/>
              <a:t>1</a:t>
            </a:r>
          </a:p>
        </p:txBody>
      </p:sp>
      <p:sp>
        <p:nvSpPr>
          <p:cNvPr id="5" name="TextBox 4"/>
          <p:cNvSpPr txBox="1"/>
          <p:nvPr/>
        </p:nvSpPr>
        <p:spPr>
          <a:xfrm>
            <a:off x="1478280" y="2468880"/>
            <a:ext cx="4572000" cy="1645920"/>
          </a:xfrm>
          <a:prstGeom prst="rect">
            <a:avLst/>
          </a:prstGeom>
          <a:noFill/>
        </p:spPr>
        <p:txBody>
          <a:bodyPr wrap="none">
            <a:spAutoFit/>
          </a:bodyPr>
          <a:lstStyle/>
          <a:p>
            <a:endParaRPr/>
          </a:p>
        </p:txBody>
      </p:sp>
      <p:sp>
        <p:nvSpPr>
          <p:cNvPr id="6" name="TextBox 5"/>
          <p:cNvSpPr txBox="1"/>
          <p:nvPr/>
        </p:nvSpPr>
        <p:spPr>
          <a:xfrm>
            <a:off x="1661160" y="2651760"/>
            <a:ext cx="4206240" cy="274320"/>
          </a:xfrm>
          <a:prstGeom prst="rect">
            <a:avLst/>
          </a:prstGeom>
          <a:noFill/>
        </p:spPr>
        <p:txBody>
          <a:bodyPr wrap="square">
            <a:spAutoFit/>
          </a:bodyPr>
          <a:lstStyle/>
          <a:p>
            <a:r>
              <a:rPr sz="1400" b="1"/>
              <a:t>Huquqiy asoslarni mustahkamlash</a:t>
            </a:r>
          </a:p>
        </p:txBody>
      </p:sp>
      <p:sp>
        <p:nvSpPr>
          <p:cNvPr id="7" name="TextBox 6"/>
          <p:cNvSpPr txBox="1"/>
          <p:nvPr/>
        </p:nvSpPr>
        <p:spPr>
          <a:xfrm>
            <a:off x="1661160" y="2926080"/>
            <a:ext cx="4206240" cy="1005840"/>
          </a:xfrm>
          <a:prstGeom prst="rect">
            <a:avLst/>
          </a:prstGeom>
          <a:noFill/>
        </p:spPr>
        <p:txBody>
          <a:bodyPr wrap="square">
            <a:spAutoFit/>
          </a:bodyPr>
          <a:lstStyle/>
          <a:p>
            <a:r>
              <a:rPr sz="1400" b="0"/>
              <a:t>Fond sanoat mulki huquqiy muhofazasi uchun zamonaviy qonunchilik bazasini ishlab chiqishda faol ishtirok etadi va uni muntazam yangilaydi.</a:t>
            </a:r>
          </a:p>
        </p:txBody>
      </p:sp>
      <p:sp>
        <p:nvSpPr>
          <p:cNvPr id="8" name="Rounded Rectangle 7"/>
          <p:cNvSpPr/>
          <p:nvPr/>
        </p:nvSpPr>
        <p:spPr>
          <a:xfrm>
            <a:off x="5867400" y="256032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27659" y="2620579"/>
            <a:ext cx="290960" cy="290960"/>
          </a:xfrm>
          <a:prstGeom prst="rect">
            <a:avLst/>
          </a:prstGeom>
          <a:noFill/>
        </p:spPr>
        <p:txBody>
          <a:bodyPr wrap="square">
            <a:spAutoFit/>
          </a:bodyPr>
          <a:lstStyle/>
          <a:p>
            <a:r>
              <a:rPr sz="1600" b="0"/>
              <a:t>2</a:t>
            </a:r>
          </a:p>
        </p:txBody>
      </p:sp>
      <p:sp>
        <p:nvSpPr>
          <p:cNvPr id="10" name="TextBox 9"/>
          <p:cNvSpPr txBox="1"/>
          <p:nvPr/>
        </p:nvSpPr>
        <p:spPr>
          <a:xfrm>
            <a:off x="6141720" y="2468880"/>
            <a:ext cx="4572000" cy="1645920"/>
          </a:xfrm>
          <a:prstGeom prst="rect">
            <a:avLst/>
          </a:prstGeom>
          <a:noFill/>
        </p:spPr>
        <p:txBody>
          <a:bodyPr wrap="none">
            <a:spAutoFit/>
          </a:bodyPr>
          <a:lstStyle/>
          <a:p>
            <a:endParaRPr/>
          </a:p>
        </p:txBody>
      </p:sp>
      <p:sp>
        <p:nvSpPr>
          <p:cNvPr id="11" name="TextBox 10"/>
          <p:cNvSpPr txBox="1"/>
          <p:nvPr/>
        </p:nvSpPr>
        <p:spPr>
          <a:xfrm>
            <a:off x="6324600" y="2651760"/>
            <a:ext cx="4206240" cy="274320"/>
          </a:xfrm>
          <a:prstGeom prst="rect">
            <a:avLst/>
          </a:prstGeom>
          <a:noFill/>
        </p:spPr>
        <p:txBody>
          <a:bodyPr wrap="square">
            <a:spAutoFit/>
          </a:bodyPr>
          <a:lstStyle/>
          <a:p>
            <a:r>
              <a:rPr sz="1600" b="1"/>
              <a:t>Patent xizmatlari kengayishi</a:t>
            </a:r>
          </a:p>
        </p:txBody>
      </p:sp>
      <p:sp>
        <p:nvSpPr>
          <p:cNvPr id="12" name="TextBox 11"/>
          <p:cNvSpPr txBox="1"/>
          <p:nvPr/>
        </p:nvSpPr>
        <p:spPr>
          <a:xfrm>
            <a:off x="6324600" y="2926080"/>
            <a:ext cx="4206240" cy="1005840"/>
          </a:xfrm>
          <a:prstGeom prst="rect">
            <a:avLst/>
          </a:prstGeom>
          <a:noFill/>
        </p:spPr>
        <p:txBody>
          <a:bodyPr wrap="square">
            <a:spAutoFit/>
          </a:bodyPr>
          <a:lstStyle/>
          <a:p>
            <a:r>
              <a:rPr sz="1400" b="0"/>
              <a:t>Fond yangi patent xizmatlari joriy etib, tadqiqotchi va ixtirochilarning huquqlarini himoyalash bo‘yicha imkoniyatlarini kengaytiradi.</a:t>
            </a:r>
          </a:p>
        </p:txBody>
      </p:sp>
      <p:sp>
        <p:nvSpPr>
          <p:cNvPr id="13" name="Rounded Rectangle 12"/>
          <p:cNvSpPr/>
          <p:nvPr/>
        </p:nvSpPr>
        <p:spPr>
          <a:xfrm>
            <a:off x="1203960" y="429768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64219" y="4357939"/>
            <a:ext cx="290960" cy="290960"/>
          </a:xfrm>
          <a:prstGeom prst="rect">
            <a:avLst/>
          </a:prstGeom>
          <a:noFill/>
        </p:spPr>
        <p:txBody>
          <a:bodyPr wrap="square">
            <a:spAutoFit/>
          </a:bodyPr>
          <a:lstStyle/>
          <a:p>
            <a:r>
              <a:rPr sz="1600" b="0"/>
              <a:t>3</a:t>
            </a:r>
          </a:p>
        </p:txBody>
      </p:sp>
      <p:sp>
        <p:nvSpPr>
          <p:cNvPr id="15" name="TextBox 14"/>
          <p:cNvSpPr txBox="1"/>
          <p:nvPr/>
        </p:nvSpPr>
        <p:spPr>
          <a:xfrm>
            <a:off x="1478280" y="4206240"/>
            <a:ext cx="4572000" cy="1645920"/>
          </a:xfrm>
          <a:prstGeom prst="rect">
            <a:avLst/>
          </a:prstGeom>
          <a:noFill/>
        </p:spPr>
        <p:txBody>
          <a:bodyPr wrap="none">
            <a:spAutoFit/>
          </a:bodyPr>
          <a:lstStyle/>
          <a:p>
            <a:endParaRPr/>
          </a:p>
        </p:txBody>
      </p:sp>
      <p:sp>
        <p:nvSpPr>
          <p:cNvPr id="16" name="TextBox 15"/>
          <p:cNvSpPr txBox="1"/>
          <p:nvPr/>
        </p:nvSpPr>
        <p:spPr>
          <a:xfrm>
            <a:off x="1661160" y="4389120"/>
            <a:ext cx="4206240" cy="274320"/>
          </a:xfrm>
          <a:prstGeom prst="rect">
            <a:avLst/>
          </a:prstGeom>
          <a:noFill/>
        </p:spPr>
        <p:txBody>
          <a:bodyPr wrap="square">
            <a:spAutoFit/>
          </a:bodyPr>
          <a:lstStyle/>
          <a:p>
            <a:r>
              <a:rPr sz="1600" b="1"/>
              <a:t>Axborot resurslari yaratish</a:t>
            </a:r>
          </a:p>
        </p:txBody>
      </p:sp>
      <p:sp>
        <p:nvSpPr>
          <p:cNvPr id="17" name="TextBox 16"/>
          <p:cNvSpPr txBox="1"/>
          <p:nvPr/>
        </p:nvSpPr>
        <p:spPr>
          <a:xfrm>
            <a:off x="1661160" y="4663440"/>
            <a:ext cx="4206240" cy="1005840"/>
          </a:xfrm>
          <a:prstGeom prst="rect">
            <a:avLst/>
          </a:prstGeom>
          <a:noFill/>
        </p:spPr>
        <p:txBody>
          <a:bodyPr wrap="square">
            <a:spAutoFit/>
          </a:bodyPr>
          <a:lstStyle/>
          <a:p>
            <a:r>
              <a:rPr sz="1400" b="0"/>
              <a:t>Sanoat mulki sohasida axborot portallari va ma’lumotnomalar bilan ta’minlash, intellektual mulk bo‘yicha ochiq ma’lumotlar bazasini rivojlantiradi.</a:t>
            </a:r>
          </a:p>
        </p:txBody>
      </p:sp>
      <p:sp>
        <p:nvSpPr>
          <p:cNvPr id="18" name="Rounded Rectangle 17"/>
          <p:cNvSpPr/>
          <p:nvPr/>
        </p:nvSpPr>
        <p:spPr>
          <a:xfrm>
            <a:off x="5867400" y="4297680"/>
            <a:ext cx="41148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27659" y="4357939"/>
            <a:ext cx="290960" cy="290960"/>
          </a:xfrm>
          <a:prstGeom prst="rect">
            <a:avLst/>
          </a:prstGeom>
          <a:noFill/>
        </p:spPr>
        <p:txBody>
          <a:bodyPr wrap="square">
            <a:spAutoFit/>
          </a:bodyPr>
          <a:lstStyle/>
          <a:p>
            <a:r>
              <a:rPr sz="1600" b="0"/>
              <a:t>4</a:t>
            </a:r>
          </a:p>
        </p:txBody>
      </p:sp>
      <p:sp>
        <p:nvSpPr>
          <p:cNvPr id="20" name="TextBox 19"/>
          <p:cNvSpPr txBox="1"/>
          <p:nvPr/>
        </p:nvSpPr>
        <p:spPr>
          <a:xfrm>
            <a:off x="6141720" y="4206240"/>
            <a:ext cx="4572000" cy="1645920"/>
          </a:xfrm>
          <a:prstGeom prst="rect">
            <a:avLst/>
          </a:prstGeom>
          <a:noFill/>
        </p:spPr>
        <p:txBody>
          <a:bodyPr wrap="none">
            <a:spAutoFit/>
          </a:bodyPr>
          <a:lstStyle/>
          <a:p>
            <a:endParaRPr/>
          </a:p>
        </p:txBody>
      </p:sp>
      <p:sp>
        <p:nvSpPr>
          <p:cNvPr id="21" name="TextBox 20"/>
          <p:cNvSpPr txBox="1"/>
          <p:nvPr/>
        </p:nvSpPr>
        <p:spPr>
          <a:xfrm>
            <a:off x="6324600" y="4389120"/>
            <a:ext cx="4206240" cy="274320"/>
          </a:xfrm>
          <a:prstGeom prst="rect">
            <a:avLst/>
          </a:prstGeom>
          <a:noFill/>
        </p:spPr>
        <p:txBody>
          <a:bodyPr wrap="square">
            <a:spAutoFit/>
          </a:bodyPr>
          <a:lstStyle/>
          <a:p>
            <a:r>
              <a:rPr sz="1600" b="1"/>
              <a:t>Malaka oshirish dasturlari</a:t>
            </a:r>
          </a:p>
        </p:txBody>
      </p:sp>
      <p:sp>
        <p:nvSpPr>
          <p:cNvPr id="22" name="TextBox 21"/>
          <p:cNvSpPr txBox="1"/>
          <p:nvPr/>
        </p:nvSpPr>
        <p:spPr>
          <a:xfrm>
            <a:off x="6324600" y="4663440"/>
            <a:ext cx="4206240" cy="1005840"/>
          </a:xfrm>
          <a:prstGeom prst="rect">
            <a:avLst/>
          </a:prstGeom>
          <a:noFill/>
        </p:spPr>
        <p:txBody>
          <a:bodyPr wrap="square">
            <a:spAutoFit/>
          </a:bodyPr>
          <a:lstStyle/>
          <a:p>
            <a:r>
              <a:rPr sz="1400" b="0"/>
              <a:t>Fond malaka oshirish kurslari, seminar va treninglar orqali sanoat mulki sohasida kadrlar salohiyatini oshirishga yordam beradi.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sz="2400"/>
            </a:pPr>
            <a:r>
              <a:rPr sz="4000" b="1" dirty="0" err="1">
                <a:solidFill>
                  <a:srgbClr val="002060"/>
                </a:solidFill>
              </a:rPr>
              <a:t>Texnik</a:t>
            </a:r>
            <a:r>
              <a:rPr sz="4000" b="1" dirty="0">
                <a:solidFill>
                  <a:srgbClr val="002060"/>
                </a:solidFill>
              </a:rPr>
              <a:t> </a:t>
            </a:r>
            <a:r>
              <a:rPr sz="4000" b="1" dirty="0" err="1">
                <a:solidFill>
                  <a:srgbClr val="002060"/>
                </a:solidFill>
              </a:rPr>
              <a:t>loyihalash</a:t>
            </a:r>
            <a:r>
              <a:rPr sz="4000" b="1" dirty="0">
                <a:solidFill>
                  <a:srgbClr val="002060"/>
                </a:solidFill>
              </a:rPr>
              <a:t> </a:t>
            </a:r>
            <a:r>
              <a:rPr sz="4000" b="1" dirty="0" err="1">
                <a:solidFill>
                  <a:srgbClr val="002060"/>
                </a:solidFill>
              </a:rPr>
              <a:t>va</a:t>
            </a:r>
            <a:r>
              <a:rPr sz="4000" b="1" dirty="0">
                <a:solidFill>
                  <a:srgbClr val="002060"/>
                </a:solidFill>
              </a:rPr>
              <a:t> </a:t>
            </a:r>
            <a:r>
              <a:rPr sz="4000" b="1" dirty="0" err="1">
                <a:solidFill>
                  <a:srgbClr val="002060"/>
                </a:solidFill>
              </a:rPr>
              <a:t>modellashtirish</a:t>
            </a:r>
            <a:r>
              <a:rPr sz="4000" b="1" dirty="0">
                <a:solidFill>
                  <a:srgbClr val="002060"/>
                </a:solidFill>
              </a:rPr>
              <a:t> </a:t>
            </a:r>
            <a:r>
              <a:rPr sz="4000" b="1" dirty="0" err="1">
                <a:solidFill>
                  <a:srgbClr val="002060"/>
                </a:solidFill>
              </a:rPr>
              <a:t>uchun</a:t>
            </a:r>
            <a:r>
              <a:rPr sz="4000" b="1" dirty="0">
                <a:solidFill>
                  <a:srgbClr val="002060"/>
                </a:solidFill>
              </a:rPr>
              <a:t> fond </a:t>
            </a:r>
            <a:r>
              <a:rPr sz="4000" b="1" dirty="0" err="1">
                <a:solidFill>
                  <a:srgbClr val="002060"/>
                </a:solidFill>
              </a:rPr>
              <a:t>resurslaridan</a:t>
            </a:r>
            <a:r>
              <a:rPr sz="4000" b="1" dirty="0">
                <a:solidFill>
                  <a:srgbClr val="002060"/>
                </a:solidFill>
              </a:rPr>
              <a:t> </a:t>
            </a:r>
            <a:r>
              <a:rPr sz="4000" b="1" dirty="0" err="1">
                <a:solidFill>
                  <a:srgbClr val="002060"/>
                </a:solidFill>
              </a:rPr>
              <a:t>foydalanish</a:t>
            </a:r>
            <a:r>
              <a:rPr sz="4000" b="1" dirty="0">
                <a:solidFill>
                  <a:srgbClr val="002060"/>
                </a:solidFill>
              </a:rPr>
              <a:t> </a:t>
            </a:r>
            <a:r>
              <a:rPr sz="4000" b="1" dirty="0" err="1">
                <a:solidFill>
                  <a:srgbClr val="002060"/>
                </a:solidFill>
              </a:rPr>
              <a:t>imkoniyatlari</a:t>
            </a:r>
            <a:endParaRPr sz="4000" b="1" dirty="0">
              <a:solidFill>
                <a:srgbClr val="002060"/>
              </a:solidFill>
            </a:endParaRPr>
          </a:p>
        </p:txBody>
      </p:sp>
      <p:cxnSp>
        <p:nvCxnSpPr>
          <p:cNvPr id="3" name="Connector 2"/>
          <p:cNvCxnSpPr/>
          <p:nvPr/>
        </p:nvCxnSpPr>
        <p:spPr>
          <a:xfrm>
            <a:off x="1371600" y="2560320"/>
            <a:ext cx="0" cy="356616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28346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188720" y="26517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42284" y="2705324"/>
            <a:ext cx="258631" cy="258631"/>
          </a:xfrm>
          <a:prstGeom prst="rect">
            <a:avLst/>
          </a:prstGeom>
          <a:noFill/>
        </p:spPr>
        <p:txBody>
          <a:bodyPr wrap="square">
            <a:spAutoFit/>
          </a:bodyPr>
          <a:lstStyle/>
          <a:p>
            <a:r>
              <a:rPr sz="1600" b="0"/>
              <a:t>1</a:t>
            </a:r>
          </a:p>
        </p:txBody>
      </p:sp>
      <p:sp>
        <p:nvSpPr>
          <p:cNvPr id="7" name="TextBox 6"/>
          <p:cNvSpPr txBox="1"/>
          <p:nvPr/>
        </p:nvSpPr>
        <p:spPr>
          <a:xfrm>
            <a:off x="2103120" y="2560320"/>
            <a:ext cx="6400800" cy="274320"/>
          </a:xfrm>
          <a:prstGeom prst="rect">
            <a:avLst/>
          </a:prstGeom>
          <a:noFill/>
        </p:spPr>
        <p:txBody>
          <a:bodyPr wrap="square">
            <a:spAutoFit/>
          </a:bodyPr>
          <a:lstStyle/>
          <a:p>
            <a:r>
              <a:rPr sz="1600" b="1"/>
              <a:t>Fond ma’lumotlar bazasi</a:t>
            </a:r>
          </a:p>
        </p:txBody>
      </p:sp>
      <p:sp>
        <p:nvSpPr>
          <p:cNvPr id="8" name="TextBox 7"/>
          <p:cNvSpPr txBox="1"/>
          <p:nvPr/>
        </p:nvSpPr>
        <p:spPr>
          <a:xfrm>
            <a:off x="2103120" y="2834640"/>
            <a:ext cx="6400800" cy="914400"/>
          </a:xfrm>
          <a:prstGeom prst="rect">
            <a:avLst/>
          </a:prstGeom>
          <a:noFill/>
        </p:spPr>
        <p:txBody>
          <a:bodyPr wrap="square">
            <a:spAutoFit/>
          </a:bodyPr>
          <a:lstStyle/>
          <a:p>
            <a:r>
              <a:rPr sz="1400" b="0"/>
              <a:t>Fond texnik loyihalash uchun zarur ma’lumotlar bazasini taqdim etadi, unda patentlar, texnik chizmalar va namunaviy modellar mavjud.</a:t>
            </a:r>
          </a:p>
        </p:txBody>
      </p:sp>
      <p:cxnSp>
        <p:nvCxnSpPr>
          <p:cNvPr id="9" name="Connector 8"/>
          <p:cNvCxnSpPr/>
          <p:nvPr/>
        </p:nvCxnSpPr>
        <p:spPr>
          <a:xfrm>
            <a:off x="1371600" y="37490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188720" y="35661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42284" y="3619724"/>
            <a:ext cx="258631" cy="258631"/>
          </a:xfrm>
          <a:prstGeom prst="rect">
            <a:avLst/>
          </a:prstGeom>
          <a:noFill/>
        </p:spPr>
        <p:txBody>
          <a:bodyPr wrap="square">
            <a:spAutoFit/>
          </a:bodyPr>
          <a:lstStyle/>
          <a:p>
            <a:r>
              <a:rPr sz="1600" b="0"/>
              <a:t>2</a:t>
            </a:r>
          </a:p>
        </p:txBody>
      </p:sp>
      <p:sp>
        <p:nvSpPr>
          <p:cNvPr id="12" name="TextBox 11"/>
          <p:cNvSpPr txBox="1"/>
          <p:nvPr/>
        </p:nvSpPr>
        <p:spPr>
          <a:xfrm>
            <a:off x="2103120" y="3474720"/>
            <a:ext cx="6400800" cy="274320"/>
          </a:xfrm>
          <a:prstGeom prst="rect">
            <a:avLst/>
          </a:prstGeom>
          <a:noFill/>
        </p:spPr>
        <p:txBody>
          <a:bodyPr wrap="square">
            <a:spAutoFit/>
          </a:bodyPr>
          <a:lstStyle/>
          <a:p>
            <a:r>
              <a:rPr sz="1600" b="1"/>
              <a:t>Innovatsion dasturlar</a:t>
            </a:r>
          </a:p>
        </p:txBody>
      </p:sp>
      <p:sp>
        <p:nvSpPr>
          <p:cNvPr id="13" name="TextBox 12"/>
          <p:cNvSpPr txBox="1"/>
          <p:nvPr/>
        </p:nvSpPr>
        <p:spPr>
          <a:xfrm>
            <a:off x="2103120" y="3749040"/>
            <a:ext cx="9144000" cy="914400"/>
          </a:xfrm>
          <a:prstGeom prst="rect">
            <a:avLst/>
          </a:prstGeom>
          <a:noFill/>
        </p:spPr>
        <p:txBody>
          <a:bodyPr wrap="square">
            <a:spAutoFit/>
          </a:bodyPr>
          <a:lstStyle/>
          <a:p>
            <a:r>
              <a:rPr sz="1400" b="0"/>
              <a:t>Fond innovatsion texnik modellashtirishni qo‘llab-quvvatlovchi dasturlar va uskunalardan foydalanish imkoniyatini ta’minlaydi, bu esa yangilik yaratishni tezlashtiradi.</a:t>
            </a:r>
          </a:p>
        </p:txBody>
      </p:sp>
      <p:cxnSp>
        <p:nvCxnSpPr>
          <p:cNvPr id="14" name="Connector 13"/>
          <p:cNvCxnSpPr/>
          <p:nvPr/>
        </p:nvCxnSpPr>
        <p:spPr>
          <a:xfrm>
            <a:off x="1371600" y="46634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188720" y="44805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42284" y="4534124"/>
            <a:ext cx="258631" cy="258631"/>
          </a:xfrm>
          <a:prstGeom prst="rect">
            <a:avLst/>
          </a:prstGeom>
          <a:noFill/>
        </p:spPr>
        <p:txBody>
          <a:bodyPr wrap="square">
            <a:spAutoFit/>
          </a:bodyPr>
          <a:lstStyle/>
          <a:p>
            <a:r>
              <a:rPr sz="1600" b="0"/>
              <a:t>3</a:t>
            </a:r>
          </a:p>
        </p:txBody>
      </p:sp>
      <p:sp>
        <p:nvSpPr>
          <p:cNvPr id="17" name="TextBox 16"/>
          <p:cNvSpPr txBox="1"/>
          <p:nvPr/>
        </p:nvSpPr>
        <p:spPr>
          <a:xfrm>
            <a:off x="2103120" y="4389120"/>
            <a:ext cx="6400800" cy="274320"/>
          </a:xfrm>
          <a:prstGeom prst="rect">
            <a:avLst/>
          </a:prstGeom>
          <a:noFill/>
        </p:spPr>
        <p:txBody>
          <a:bodyPr wrap="square">
            <a:spAutoFit/>
          </a:bodyPr>
          <a:lstStyle/>
          <a:p>
            <a:r>
              <a:rPr sz="1600" b="1"/>
              <a:t>Ekspert maslahatlari</a:t>
            </a:r>
          </a:p>
        </p:txBody>
      </p:sp>
      <p:sp>
        <p:nvSpPr>
          <p:cNvPr id="18" name="TextBox 17"/>
          <p:cNvSpPr txBox="1"/>
          <p:nvPr/>
        </p:nvSpPr>
        <p:spPr>
          <a:xfrm>
            <a:off x="2103120" y="4663440"/>
            <a:ext cx="6400800" cy="914400"/>
          </a:xfrm>
          <a:prstGeom prst="rect">
            <a:avLst/>
          </a:prstGeom>
          <a:noFill/>
        </p:spPr>
        <p:txBody>
          <a:bodyPr wrap="square">
            <a:spAutoFit/>
          </a:bodyPr>
          <a:lstStyle/>
          <a:p>
            <a:r>
              <a:rPr sz="1400" b="0"/>
              <a:t>Loyihalash jarayonida fond mutaxassislarining maslahatlari texnik muammolarni hal qilish va samarali yechimlarni topishda yordam beradi.</a:t>
            </a:r>
          </a:p>
        </p:txBody>
      </p:sp>
      <p:cxnSp>
        <p:nvCxnSpPr>
          <p:cNvPr id="19" name="Connector 18"/>
          <p:cNvCxnSpPr/>
          <p:nvPr/>
        </p:nvCxnSpPr>
        <p:spPr>
          <a:xfrm>
            <a:off x="1371600" y="5577840"/>
            <a:ext cx="731520" cy="0"/>
          </a:xfrm>
          <a:prstGeom prst="line">
            <a:avLst/>
          </a:prstGeom>
          <a:ln w="25400"/>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188720" y="5394960"/>
            <a:ext cx="365760" cy="3657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42284" y="5448524"/>
            <a:ext cx="258631" cy="258631"/>
          </a:xfrm>
          <a:prstGeom prst="rect">
            <a:avLst/>
          </a:prstGeom>
          <a:noFill/>
        </p:spPr>
        <p:txBody>
          <a:bodyPr wrap="square">
            <a:spAutoFit/>
          </a:bodyPr>
          <a:lstStyle/>
          <a:p>
            <a:r>
              <a:rPr sz="1600" b="0"/>
              <a:t>4</a:t>
            </a:r>
          </a:p>
        </p:txBody>
      </p:sp>
      <p:sp>
        <p:nvSpPr>
          <p:cNvPr id="22" name="TextBox 21"/>
          <p:cNvSpPr txBox="1"/>
          <p:nvPr/>
        </p:nvSpPr>
        <p:spPr>
          <a:xfrm>
            <a:off x="2103120" y="5303520"/>
            <a:ext cx="6400800" cy="274320"/>
          </a:xfrm>
          <a:prstGeom prst="rect">
            <a:avLst/>
          </a:prstGeom>
          <a:noFill/>
        </p:spPr>
        <p:txBody>
          <a:bodyPr wrap="square">
            <a:spAutoFit/>
          </a:bodyPr>
          <a:lstStyle/>
          <a:p>
            <a:r>
              <a:rPr sz="1600" b="1"/>
              <a:t>Material va jihozlar</a:t>
            </a:r>
          </a:p>
        </p:txBody>
      </p:sp>
      <p:sp>
        <p:nvSpPr>
          <p:cNvPr id="23" name="TextBox 22"/>
          <p:cNvSpPr txBox="1"/>
          <p:nvPr/>
        </p:nvSpPr>
        <p:spPr>
          <a:xfrm>
            <a:off x="2103120" y="5577840"/>
            <a:ext cx="6400800" cy="914400"/>
          </a:xfrm>
          <a:prstGeom prst="rect">
            <a:avLst/>
          </a:prstGeom>
          <a:noFill/>
        </p:spPr>
        <p:txBody>
          <a:bodyPr wrap="square">
            <a:spAutoFit/>
          </a:bodyPr>
          <a:lstStyle/>
          <a:p>
            <a:r>
              <a:rPr sz="1400" b="0"/>
              <a:t>Fond texnik modellashtirish uchun zarur bo‘lgan materiallar va zamonaviy jihozlardan foydalanish imkoniyatini loyihachilarga taqdim etadi.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4400"/>
            </a:pPr>
            <a:r>
              <a:rPr dirty="0" err="1"/>
              <a:t>Xulosa</a:t>
            </a:r>
            <a:endParaRPr dirty="0"/>
          </a:p>
        </p:txBody>
      </p:sp>
      <p:sp>
        <p:nvSpPr>
          <p:cNvPr id="3" name="Rounded Rectangle 2"/>
          <p:cNvSpPr/>
          <p:nvPr/>
        </p:nvSpPr>
        <p:spPr>
          <a:xfrm>
            <a:off x="252984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61360" y="2468880"/>
            <a:ext cx="2194560" cy="914400"/>
          </a:xfrm>
          <a:prstGeom prst="rect">
            <a:avLst/>
          </a:prstGeom>
          <a:noFill/>
        </p:spPr>
        <p:txBody>
          <a:bodyPr wrap="square">
            <a:spAutoFit/>
          </a:bodyPr>
          <a:lstStyle/>
          <a:p>
            <a:r>
              <a:rPr sz="3600" b="1"/>
              <a:t>01</a:t>
            </a:r>
          </a:p>
        </p:txBody>
      </p:sp>
      <p:sp>
        <p:nvSpPr>
          <p:cNvPr id="5" name="TextBox 4"/>
          <p:cNvSpPr txBox="1"/>
          <p:nvPr/>
        </p:nvSpPr>
        <p:spPr>
          <a:xfrm>
            <a:off x="2529840" y="3063240"/>
            <a:ext cx="2194560" cy="457200"/>
          </a:xfrm>
          <a:prstGeom prst="rect">
            <a:avLst/>
          </a:prstGeom>
          <a:noFill/>
        </p:spPr>
        <p:txBody>
          <a:bodyPr wrap="square">
            <a:spAutoFit/>
          </a:bodyPr>
          <a:lstStyle/>
          <a:p>
            <a:r>
              <a:rPr sz="1600" b="1"/>
              <a:t>Texnik ijodkorlik taraqqiyot kaliti</a:t>
            </a:r>
          </a:p>
        </p:txBody>
      </p:sp>
      <p:sp>
        <p:nvSpPr>
          <p:cNvPr id="6" name="TextBox 5"/>
          <p:cNvSpPr txBox="1"/>
          <p:nvPr/>
        </p:nvSpPr>
        <p:spPr>
          <a:xfrm>
            <a:off x="2529840" y="3931920"/>
            <a:ext cx="2194560" cy="2743200"/>
          </a:xfrm>
          <a:prstGeom prst="rect">
            <a:avLst/>
          </a:prstGeom>
          <a:noFill/>
        </p:spPr>
        <p:txBody>
          <a:bodyPr wrap="square">
            <a:spAutoFit/>
          </a:bodyPr>
          <a:lstStyle/>
          <a:p>
            <a:r>
              <a:rPr sz="1400" b="0"/>
              <a:t>Texnik ijodkorlik iqtisodiy va ilmiy rivojlanish uchun asosiy omil hisoblanadi, zamonaviy taraqqiyot va innovatsion yutuqlarga yo‘l ochadi.</a:t>
            </a:r>
          </a:p>
        </p:txBody>
      </p:sp>
      <p:sp>
        <p:nvSpPr>
          <p:cNvPr id="7" name="Rounded Rectangle 6"/>
          <p:cNvSpPr/>
          <p:nvPr/>
        </p:nvSpPr>
        <p:spPr>
          <a:xfrm>
            <a:off x="499872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30240" y="2468880"/>
            <a:ext cx="2194560" cy="914400"/>
          </a:xfrm>
          <a:prstGeom prst="rect">
            <a:avLst/>
          </a:prstGeom>
          <a:noFill/>
        </p:spPr>
        <p:txBody>
          <a:bodyPr wrap="square">
            <a:spAutoFit/>
          </a:bodyPr>
          <a:lstStyle/>
          <a:p>
            <a:r>
              <a:rPr sz="3600" b="1"/>
              <a:t>02</a:t>
            </a:r>
          </a:p>
        </p:txBody>
      </p:sp>
      <p:sp>
        <p:nvSpPr>
          <p:cNvPr id="9" name="TextBox 8"/>
          <p:cNvSpPr txBox="1"/>
          <p:nvPr/>
        </p:nvSpPr>
        <p:spPr>
          <a:xfrm>
            <a:off x="4998720" y="3063240"/>
            <a:ext cx="2194560" cy="457200"/>
          </a:xfrm>
          <a:prstGeom prst="rect">
            <a:avLst/>
          </a:prstGeom>
          <a:noFill/>
        </p:spPr>
        <p:txBody>
          <a:bodyPr wrap="square">
            <a:spAutoFit/>
          </a:bodyPr>
          <a:lstStyle/>
          <a:p>
            <a:r>
              <a:rPr sz="1600" b="1"/>
              <a:t>Patent tizimi va huquqiy himoya</a:t>
            </a:r>
          </a:p>
        </p:txBody>
      </p:sp>
      <p:sp>
        <p:nvSpPr>
          <p:cNvPr id="10" name="TextBox 9"/>
          <p:cNvSpPr txBox="1"/>
          <p:nvPr/>
        </p:nvSpPr>
        <p:spPr>
          <a:xfrm>
            <a:off x="4998720" y="3931920"/>
            <a:ext cx="2194560" cy="2743200"/>
          </a:xfrm>
          <a:prstGeom prst="rect">
            <a:avLst/>
          </a:prstGeom>
          <a:noFill/>
        </p:spPr>
        <p:txBody>
          <a:bodyPr wrap="square">
            <a:spAutoFit/>
          </a:bodyPr>
          <a:lstStyle/>
          <a:p>
            <a:r>
              <a:rPr sz="1400" b="0"/>
              <a:t>Patent tizimi texnik yangiliklarni himoya qilish, mualliflik huquqlarini kafolatlash va innovatsion muhit yaratishda muhim ahamiyat kasb etadi.</a:t>
            </a:r>
          </a:p>
        </p:txBody>
      </p:sp>
      <p:sp>
        <p:nvSpPr>
          <p:cNvPr id="11" name="Rounded Rectangle 10"/>
          <p:cNvSpPr/>
          <p:nvPr/>
        </p:nvSpPr>
        <p:spPr>
          <a:xfrm>
            <a:off x="7467600" y="2286000"/>
            <a:ext cx="2194560" cy="393192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99120" y="2468880"/>
            <a:ext cx="2194560" cy="914400"/>
          </a:xfrm>
          <a:prstGeom prst="rect">
            <a:avLst/>
          </a:prstGeom>
          <a:noFill/>
        </p:spPr>
        <p:txBody>
          <a:bodyPr wrap="square">
            <a:spAutoFit/>
          </a:bodyPr>
          <a:lstStyle/>
          <a:p>
            <a:r>
              <a:rPr sz="3600" b="1"/>
              <a:t>03</a:t>
            </a:r>
          </a:p>
        </p:txBody>
      </p:sp>
      <p:sp>
        <p:nvSpPr>
          <p:cNvPr id="13" name="TextBox 12"/>
          <p:cNvSpPr txBox="1"/>
          <p:nvPr/>
        </p:nvSpPr>
        <p:spPr>
          <a:xfrm>
            <a:off x="7467600" y="3063240"/>
            <a:ext cx="2194560" cy="457200"/>
          </a:xfrm>
          <a:prstGeom prst="rect">
            <a:avLst/>
          </a:prstGeom>
          <a:noFill/>
        </p:spPr>
        <p:txBody>
          <a:bodyPr wrap="square">
            <a:spAutoFit/>
          </a:bodyPr>
          <a:lstStyle/>
          <a:p>
            <a:r>
              <a:rPr sz="1600" b="1"/>
              <a:t>Davlat fondlari va yangi imkoniyatlar</a:t>
            </a:r>
          </a:p>
        </p:txBody>
      </p:sp>
      <p:sp>
        <p:nvSpPr>
          <p:cNvPr id="14" name="TextBox 13"/>
          <p:cNvSpPr txBox="1"/>
          <p:nvPr/>
        </p:nvSpPr>
        <p:spPr>
          <a:xfrm>
            <a:off x="7467600" y="3931920"/>
            <a:ext cx="2194560" cy="2743200"/>
          </a:xfrm>
          <a:prstGeom prst="rect">
            <a:avLst/>
          </a:prstGeom>
          <a:noFill/>
        </p:spPr>
        <p:txBody>
          <a:bodyPr wrap="square">
            <a:spAutoFit/>
          </a:bodyPr>
          <a:lstStyle/>
          <a:p>
            <a:r>
              <a:rPr sz="1400" b="0"/>
              <a:t>Davlat fondlari ijodkorlarni qo‘llab-quvvatlab, loyihalash, modellashtirish va axborot resurslari orqali yangi imkoniyatlarni ochib beradi.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E'tiboringiz uchun rahmat!</a:t>
            </a:r>
          </a:p>
        </p:txBody>
      </p:sp>
    </p:spTree>
  </p:cSld>
  <p:clrMapOvr>
    <a:masterClrMapping/>
  </p:clrMapOvr>
</p:sld>
</file>

<file path=ppt/theme/theme1.xml><?xml version="1.0" encoding="utf-8"?>
<a:theme xmlns:a="http://schemas.openxmlformats.org/drawingml/2006/main" name="Arch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Custom 16">
      <a:majorFont>
        <a:latin typeface="Footlight MT Ligh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VTI" id="{23FE938F-4DF0-4C94-8546-C2AC6D26660D}" vid="{62E62DA1-385F-4EE3-8841-58A87FAE2068}"/>
    </a:ext>
  </a:extLst>
</a:theme>
</file>

<file path=ppt/theme/theme2.xml><?xml version="1.0" encoding="utf-8"?>
<a:theme xmlns:a="http://schemas.openxmlformats.org/drawingml/2006/main" name="BrushVTI">
  <a:themeElements>
    <a:clrScheme name="AnalogousFromLightSeedRightStep">
      <a:dk1>
        <a:srgbClr val="000000"/>
      </a:dk1>
      <a:lt1>
        <a:srgbClr val="FFFFFF"/>
      </a:lt1>
      <a:dk2>
        <a:srgbClr val="273B21"/>
      </a:dk2>
      <a:lt2>
        <a:srgbClr val="E2E5E8"/>
      </a:lt2>
      <a:accent1>
        <a:srgbClr val="C49A77"/>
      </a:accent1>
      <a:accent2>
        <a:srgbClr val="ACA267"/>
      </a:accent2>
      <a:accent3>
        <a:srgbClr val="98A773"/>
      </a:accent3>
      <a:accent4>
        <a:srgbClr val="7FB06A"/>
      </a:accent4>
      <a:accent5>
        <a:srgbClr val="75B17C"/>
      </a:accent5>
      <a:accent6>
        <a:srgbClr val="69AF8E"/>
      </a:accent6>
      <a:hlink>
        <a:srgbClr val="5C85A7"/>
      </a:hlink>
      <a:folHlink>
        <a:srgbClr val="7F7F7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emplate/>
  <TotalTime>35</TotalTime>
  <Words>1334</Words>
  <Application>Microsoft Office PowerPoint</Application>
  <PresentationFormat>Широкоэкранный</PresentationFormat>
  <Paragraphs>150</Paragraphs>
  <Slides>17</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2</vt:i4>
      </vt:variant>
      <vt:variant>
        <vt:lpstr>Заголовки слайдов</vt:lpstr>
      </vt:variant>
      <vt:variant>
        <vt:i4>17</vt:i4>
      </vt:variant>
    </vt:vector>
  </HeadingPairs>
  <TitlesOfParts>
    <vt:vector size="24" baseType="lpstr">
      <vt:lpstr>Arial</vt:lpstr>
      <vt:lpstr>Avenir Next LT Pro</vt:lpstr>
      <vt:lpstr>Century Gothic</vt:lpstr>
      <vt:lpstr>Elephant</vt:lpstr>
      <vt:lpstr>Footlight MT Light</vt:lpstr>
      <vt:lpstr>ArchVTI</vt:lpstr>
      <vt:lpstr>BrushVTI</vt:lpstr>
      <vt:lpstr>3-mavzu: Respublikada texnik ijodkorlikning tashkiliy asoslari. O‘zbekiston Respublikasining Davlat patent idorasi. Sanoat mulki ob’yektlarini huquqiy jihatdan muhofaza qilish. Patent hujjatlari. Patent axboroti. Texnik ijodkorlikni rivojlantirish metodlari. Texnik loyihalash va modellashtirishning moddiy sharoitlari</vt:lpstr>
      <vt:lpstr>Reja</vt:lpstr>
      <vt:lpstr>O‘zbekiston Respublikasining Davlat patent idorasi:  tashkil topishi va asosiy vazifalari</vt:lpstr>
      <vt:lpstr>Patent idorasining texnik ijodkorlikni rivojlantirishdagi o‘rni</vt:lpstr>
      <vt:lpstr>Sanoat mulki huquqlarini himoya qilishda patent idorasining roli</vt:lpstr>
      <vt:lpstr>Patentlash jarayoni va hujjatlashtirish talablari</vt:lpstr>
      <vt:lpstr>Sanoat mulki ob’ektlarini huquqiy himoya qilishning asosiy tamoyillari</vt:lpstr>
      <vt:lpstr>Sanoat mulki sub’ektining mualliflik huquqlari va ularning kafolatlari</vt:lpstr>
      <vt:lpstr>Sanoat mulkiga oid nizolar va ularni hal etish mexanizmlari</vt:lpstr>
      <vt:lpstr>O‘zbekiston qonunchiligida sanoat mulki muallifining huquqiy maqomi</vt:lpstr>
      <vt:lpstr>O‘zbekiston Intellektual mulk davlat fondining tashkil topishi va asosiy vazifalari</vt:lpstr>
      <vt:lpstr>Intellektual mulk davlat fondining texnik ijodkorlikni qo‘llab-quvvatlashdagi roli</vt:lpstr>
      <vt:lpstr>Patent axborotining tarqatilishida fondning ahamiyati va xizmatlari</vt:lpstr>
      <vt:lpstr>Fond tomonidan sanoat mulki huquqiy muhofazasi tizimini rivojlantirish</vt:lpstr>
      <vt:lpstr>Texnik loyihalash va modellashtirish uchun fond resurslaridan foydalanish imkoniyatlari</vt:lpstr>
      <vt:lpstr>Xulosa</vt:lpstr>
      <vt:lpstr>E'tiboringiz uchun rahmat!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쇼흐조드</dc:creator>
  <cp:lastModifiedBy>Lenovo</cp:lastModifiedBy>
  <cp:revision>19</cp:revision>
  <dcterms:created xsi:type="dcterms:W3CDTF">2023-10-19T02:20:52Z</dcterms:created>
  <dcterms:modified xsi:type="dcterms:W3CDTF">2025-12-01T16:30:44Z</dcterms:modified>
</cp:coreProperties>
</file>